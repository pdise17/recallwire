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62" r:id="rId2"/>
    <p:sldId id="263" r:id="rId3"/>
    <p:sldId id="256" r:id="rId4"/>
    <p:sldId id="258" r:id="rId5"/>
    <p:sldId id="257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06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1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E91A-EDF9-D6BC-AF53-B5FCC0A9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B482F-A9E9-FD3F-5D6E-0B48E2383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CF63A-EAC7-4DA5-2125-81E7F26A7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8CAB4-34C5-597B-AAC2-1ACA5447FD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75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svg"/><Relationship Id="rId21" Type="http://schemas.openxmlformats.org/officeDocument/2006/relationships/image" Target="../media/image23.sv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svg"/><Relationship Id="rId29" Type="http://schemas.openxmlformats.org/officeDocument/2006/relationships/image" Target="../media/image31.svg"/><Relationship Id="rId11" Type="http://schemas.openxmlformats.org/officeDocument/2006/relationships/image" Target="../media/image1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svg"/><Relationship Id="rId10" Type="http://schemas.openxmlformats.org/officeDocument/2006/relationships/image" Target="../media/image13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4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svg"/><Relationship Id="rId48" Type="http://schemas.openxmlformats.org/officeDocument/2006/relationships/image" Target="../media/image50.png"/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12" Type="http://schemas.openxmlformats.org/officeDocument/2006/relationships/image" Target="../media/image15.svg"/><Relationship Id="rId17" Type="http://schemas.openxmlformats.org/officeDocument/2006/relationships/image" Target="../media/image5.pn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2.png"/><Relationship Id="rId41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svg"/><Relationship Id="rId26" Type="http://schemas.openxmlformats.org/officeDocument/2006/relationships/image" Target="../media/image75.svg"/><Relationship Id="rId3" Type="http://schemas.openxmlformats.org/officeDocument/2006/relationships/image" Target="../media/image52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82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5.svg"/><Relationship Id="rId20" Type="http://schemas.openxmlformats.org/officeDocument/2006/relationships/image" Target="../media/image69.sv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svg"/><Relationship Id="rId32" Type="http://schemas.openxmlformats.org/officeDocument/2006/relationships/image" Target="../media/image81.sv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svg"/><Relationship Id="rId10" Type="http://schemas.openxmlformats.org/officeDocument/2006/relationships/image" Target="../media/image59.sv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53.svg"/><Relationship Id="rId9" Type="http://schemas.openxmlformats.org/officeDocument/2006/relationships/image" Target="../media/image58.png"/><Relationship Id="rId14" Type="http://schemas.openxmlformats.org/officeDocument/2006/relationships/image" Target="../media/image63.svg"/><Relationship Id="rId22" Type="http://schemas.openxmlformats.org/officeDocument/2006/relationships/image" Target="../media/image71.svg"/><Relationship Id="rId27" Type="http://schemas.openxmlformats.org/officeDocument/2006/relationships/image" Target="../media/image76.png"/><Relationship Id="rId30" Type="http://schemas.openxmlformats.org/officeDocument/2006/relationships/image" Target="../media/image79.svg"/><Relationship Id="rId8" Type="http://schemas.openxmlformats.org/officeDocument/2006/relationships/image" Target="../media/image5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91.png"/><Relationship Id="rId18" Type="http://schemas.openxmlformats.org/officeDocument/2006/relationships/image" Target="../media/image96.svg"/><Relationship Id="rId26" Type="http://schemas.openxmlformats.org/officeDocument/2006/relationships/image" Target="../media/image104.svg"/><Relationship Id="rId3" Type="http://schemas.openxmlformats.org/officeDocument/2006/relationships/image" Target="../media/image1.jpeg"/><Relationship Id="rId21" Type="http://schemas.openxmlformats.org/officeDocument/2006/relationships/image" Target="../media/image99.png"/><Relationship Id="rId7" Type="http://schemas.openxmlformats.org/officeDocument/2006/relationships/image" Target="../media/image85.png"/><Relationship Id="rId12" Type="http://schemas.openxmlformats.org/officeDocument/2006/relationships/image" Target="../media/image90.sv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4.svg"/><Relationship Id="rId20" Type="http://schemas.openxmlformats.org/officeDocument/2006/relationships/image" Target="../media/image98.sv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svg"/><Relationship Id="rId11" Type="http://schemas.openxmlformats.org/officeDocument/2006/relationships/image" Target="../media/image89.png"/><Relationship Id="rId24" Type="http://schemas.openxmlformats.org/officeDocument/2006/relationships/image" Target="../media/image102.sv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svg"/><Relationship Id="rId10" Type="http://schemas.openxmlformats.org/officeDocument/2006/relationships/image" Target="../media/image88.svg"/><Relationship Id="rId19" Type="http://schemas.openxmlformats.org/officeDocument/2006/relationships/image" Target="../media/image97.png"/><Relationship Id="rId31" Type="http://schemas.openxmlformats.org/officeDocument/2006/relationships/image" Target="../media/image109.png"/><Relationship Id="rId4" Type="http://schemas.openxmlformats.org/officeDocument/2006/relationships/image" Target="../media/image5.png"/><Relationship Id="rId9" Type="http://schemas.openxmlformats.org/officeDocument/2006/relationships/image" Target="../media/image87.png"/><Relationship Id="rId14" Type="http://schemas.openxmlformats.org/officeDocument/2006/relationships/image" Target="../media/image92.svg"/><Relationship Id="rId22" Type="http://schemas.openxmlformats.org/officeDocument/2006/relationships/image" Target="../media/image100.svg"/><Relationship Id="rId27" Type="http://schemas.openxmlformats.org/officeDocument/2006/relationships/image" Target="../media/image105.png"/><Relationship Id="rId30" Type="http://schemas.openxmlformats.org/officeDocument/2006/relationships/image" Target="../media/image108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image" Target="../media/image125.svg"/><Relationship Id="rId26" Type="http://schemas.openxmlformats.org/officeDocument/2006/relationships/image" Target="../media/image133.svg"/><Relationship Id="rId39" Type="http://schemas.openxmlformats.org/officeDocument/2006/relationships/image" Target="../media/image146.png"/><Relationship Id="rId21" Type="http://schemas.openxmlformats.org/officeDocument/2006/relationships/image" Target="../media/image128.png"/><Relationship Id="rId34" Type="http://schemas.openxmlformats.org/officeDocument/2006/relationships/image" Target="../media/image141.svg"/><Relationship Id="rId7" Type="http://schemas.openxmlformats.org/officeDocument/2006/relationships/image" Target="../media/image114.png"/><Relationship Id="rId12" Type="http://schemas.openxmlformats.org/officeDocument/2006/relationships/image" Target="../media/image119.sv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33" Type="http://schemas.openxmlformats.org/officeDocument/2006/relationships/image" Target="../media/image140.png"/><Relationship Id="rId38" Type="http://schemas.openxmlformats.org/officeDocument/2006/relationships/image" Target="../media/image145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3.svg"/><Relationship Id="rId20" Type="http://schemas.openxmlformats.org/officeDocument/2006/relationships/image" Target="../media/image127.svg"/><Relationship Id="rId29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svg"/><Relationship Id="rId11" Type="http://schemas.openxmlformats.org/officeDocument/2006/relationships/image" Target="../media/image118.png"/><Relationship Id="rId24" Type="http://schemas.openxmlformats.org/officeDocument/2006/relationships/image" Target="../media/image131.svg"/><Relationship Id="rId32" Type="http://schemas.openxmlformats.org/officeDocument/2006/relationships/image" Target="../media/image139.svg"/><Relationship Id="rId37" Type="http://schemas.openxmlformats.org/officeDocument/2006/relationships/image" Target="../media/image144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svg"/><Relationship Id="rId36" Type="http://schemas.openxmlformats.org/officeDocument/2006/relationships/image" Target="../media/image143.svg"/><Relationship Id="rId10" Type="http://schemas.openxmlformats.org/officeDocument/2006/relationships/image" Target="../media/image117.svg"/><Relationship Id="rId19" Type="http://schemas.openxmlformats.org/officeDocument/2006/relationships/image" Target="../media/image126.png"/><Relationship Id="rId31" Type="http://schemas.openxmlformats.org/officeDocument/2006/relationships/image" Target="../media/image138.png"/><Relationship Id="rId4" Type="http://schemas.openxmlformats.org/officeDocument/2006/relationships/image" Target="../media/image111.svg"/><Relationship Id="rId9" Type="http://schemas.openxmlformats.org/officeDocument/2006/relationships/image" Target="../media/image116.png"/><Relationship Id="rId14" Type="http://schemas.openxmlformats.org/officeDocument/2006/relationships/image" Target="../media/image121.svg"/><Relationship Id="rId22" Type="http://schemas.openxmlformats.org/officeDocument/2006/relationships/image" Target="../media/image129.svg"/><Relationship Id="rId27" Type="http://schemas.openxmlformats.org/officeDocument/2006/relationships/image" Target="../media/image134.png"/><Relationship Id="rId30" Type="http://schemas.openxmlformats.org/officeDocument/2006/relationships/image" Target="../media/image137.svg"/><Relationship Id="rId35" Type="http://schemas.openxmlformats.org/officeDocument/2006/relationships/image" Target="../media/image142.png"/><Relationship Id="rId8" Type="http://schemas.openxmlformats.org/officeDocument/2006/relationships/image" Target="../media/image115.svg"/><Relationship Id="rId3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svg"/><Relationship Id="rId21" Type="http://schemas.openxmlformats.org/officeDocument/2006/relationships/image" Target="../media/image23.sv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svg"/><Relationship Id="rId29" Type="http://schemas.openxmlformats.org/officeDocument/2006/relationships/image" Target="../media/image31.svg"/><Relationship Id="rId11" Type="http://schemas.openxmlformats.org/officeDocument/2006/relationships/image" Target="../media/image1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svg"/><Relationship Id="rId10" Type="http://schemas.openxmlformats.org/officeDocument/2006/relationships/image" Target="../media/image13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4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svg"/><Relationship Id="rId48" Type="http://schemas.openxmlformats.org/officeDocument/2006/relationships/image" Target="../media/image50.png"/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12" Type="http://schemas.openxmlformats.org/officeDocument/2006/relationships/image" Target="../media/image15.svg"/><Relationship Id="rId17" Type="http://schemas.openxmlformats.org/officeDocument/2006/relationships/image" Target="../media/image5.pn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2.png"/><Relationship Id="rId41" Type="http://schemas.openxmlformats.org/officeDocument/2006/relationships/image" Target="../media/image4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5.svg"/><Relationship Id="rId18" Type="http://schemas.openxmlformats.org/officeDocument/2006/relationships/image" Target="../media/image160.png"/><Relationship Id="rId26" Type="http://schemas.openxmlformats.org/officeDocument/2006/relationships/image" Target="../media/image168.png"/><Relationship Id="rId39" Type="http://schemas.openxmlformats.org/officeDocument/2006/relationships/image" Target="../media/image181.svg"/><Relationship Id="rId21" Type="http://schemas.openxmlformats.org/officeDocument/2006/relationships/image" Target="../media/image163.svg"/><Relationship Id="rId34" Type="http://schemas.openxmlformats.org/officeDocument/2006/relationships/image" Target="../media/image176.png"/><Relationship Id="rId42" Type="http://schemas.openxmlformats.org/officeDocument/2006/relationships/image" Target="../media/image184.png"/><Relationship Id="rId47" Type="http://schemas.openxmlformats.org/officeDocument/2006/relationships/image" Target="../media/image189.svg"/><Relationship Id="rId7" Type="http://schemas.openxmlformats.org/officeDocument/2006/relationships/image" Target="../media/image149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8.png"/><Relationship Id="rId29" Type="http://schemas.openxmlformats.org/officeDocument/2006/relationships/image" Target="../media/image17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53.svg"/><Relationship Id="rId24" Type="http://schemas.openxmlformats.org/officeDocument/2006/relationships/image" Target="../media/image166.png"/><Relationship Id="rId32" Type="http://schemas.openxmlformats.org/officeDocument/2006/relationships/image" Target="../media/image174.png"/><Relationship Id="rId37" Type="http://schemas.openxmlformats.org/officeDocument/2006/relationships/image" Target="../media/image179.svg"/><Relationship Id="rId40" Type="http://schemas.openxmlformats.org/officeDocument/2006/relationships/image" Target="../media/image182.png"/><Relationship Id="rId45" Type="http://schemas.openxmlformats.org/officeDocument/2006/relationships/image" Target="../media/image187.svg"/><Relationship Id="rId5" Type="http://schemas.openxmlformats.org/officeDocument/2006/relationships/image" Target="../media/image5.png"/><Relationship Id="rId15" Type="http://schemas.openxmlformats.org/officeDocument/2006/relationships/image" Target="../media/image157.svg"/><Relationship Id="rId23" Type="http://schemas.openxmlformats.org/officeDocument/2006/relationships/image" Target="../media/image165.svg"/><Relationship Id="rId28" Type="http://schemas.openxmlformats.org/officeDocument/2006/relationships/image" Target="../media/image170.png"/><Relationship Id="rId36" Type="http://schemas.openxmlformats.org/officeDocument/2006/relationships/image" Target="../media/image178.png"/><Relationship Id="rId10" Type="http://schemas.openxmlformats.org/officeDocument/2006/relationships/image" Target="../media/image152.png"/><Relationship Id="rId19" Type="http://schemas.openxmlformats.org/officeDocument/2006/relationships/image" Target="../media/image161.svg"/><Relationship Id="rId31" Type="http://schemas.openxmlformats.org/officeDocument/2006/relationships/image" Target="../media/image173.svg"/><Relationship Id="rId44" Type="http://schemas.openxmlformats.org/officeDocument/2006/relationships/image" Target="../media/image186.png"/><Relationship Id="rId4" Type="http://schemas.openxmlformats.org/officeDocument/2006/relationships/image" Target="../media/image147.png"/><Relationship Id="rId9" Type="http://schemas.openxmlformats.org/officeDocument/2006/relationships/image" Target="../media/image151.svg"/><Relationship Id="rId14" Type="http://schemas.openxmlformats.org/officeDocument/2006/relationships/image" Target="../media/image156.png"/><Relationship Id="rId22" Type="http://schemas.openxmlformats.org/officeDocument/2006/relationships/image" Target="../media/image164.png"/><Relationship Id="rId27" Type="http://schemas.openxmlformats.org/officeDocument/2006/relationships/image" Target="../media/image169.svg"/><Relationship Id="rId30" Type="http://schemas.openxmlformats.org/officeDocument/2006/relationships/image" Target="../media/image172.png"/><Relationship Id="rId35" Type="http://schemas.openxmlformats.org/officeDocument/2006/relationships/image" Target="../media/image177.svg"/><Relationship Id="rId43" Type="http://schemas.openxmlformats.org/officeDocument/2006/relationships/image" Target="../media/image185.svg"/><Relationship Id="rId8" Type="http://schemas.openxmlformats.org/officeDocument/2006/relationships/image" Target="../media/image150.png"/><Relationship Id="rId3" Type="http://schemas.openxmlformats.org/officeDocument/2006/relationships/image" Target="../media/image1.jpeg"/><Relationship Id="rId12" Type="http://schemas.openxmlformats.org/officeDocument/2006/relationships/image" Target="../media/image154.png"/><Relationship Id="rId17" Type="http://schemas.openxmlformats.org/officeDocument/2006/relationships/image" Target="../media/image159.svg"/><Relationship Id="rId25" Type="http://schemas.openxmlformats.org/officeDocument/2006/relationships/image" Target="../media/image167.svg"/><Relationship Id="rId33" Type="http://schemas.openxmlformats.org/officeDocument/2006/relationships/image" Target="../media/image175.svg"/><Relationship Id="rId38" Type="http://schemas.openxmlformats.org/officeDocument/2006/relationships/image" Target="../media/image180.png"/><Relationship Id="rId46" Type="http://schemas.openxmlformats.org/officeDocument/2006/relationships/image" Target="../media/image188.png"/><Relationship Id="rId20" Type="http://schemas.openxmlformats.org/officeDocument/2006/relationships/image" Target="../media/image162.png"/><Relationship Id="rId41" Type="http://schemas.openxmlformats.org/officeDocument/2006/relationships/image" Target="../media/image183.sv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9.png"/><Relationship Id="rId18" Type="http://schemas.openxmlformats.org/officeDocument/2006/relationships/image" Target="../media/image204.svg"/><Relationship Id="rId26" Type="http://schemas.openxmlformats.org/officeDocument/2006/relationships/image" Target="../media/image212.svg"/><Relationship Id="rId39" Type="http://schemas.openxmlformats.org/officeDocument/2006/relationships/image" Target="../media/image225.png"/><Relationship Id="rId21" Type="http://schemas.openxmlformats.org/officeDocument/2006/relationships/image" Target="../media/image207.png"/><Relationship Id="rId34" Type="http://schemas.openxmlformats.org/officeDocument/2006/relationships/image" Target="../media/image220.svg"/><Relationship Id="rId42" Type="http://schemas.openxmlformats.org/officeDocument/2006/relationships/image" Target="../media/image228.svg"/><Relationship Id="rId47" Type="http://schemas.openxmlformats.org/officeDocument/2006/relationships/image" Target="../media/image233.png"/><Relationship Id="rId50" Type="http://schemas.openxmlformats.org/officeDocument/2006/relationships/image" Target="../media/image236.svg"/><Relationship Id="rId55" Type="http://schemas.openxmlformats.org/officeDocument/2006/relationships/image" Target="../media/image241.png"/><Relationship Id="rId7" Type="http://schemas.openxmlformats.org/officeDocument/2006/relationships/image" Target="../media/image193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02.svg"/><Relationship Id="rId29" Type="http://schemas.openxmlformats.org/officeDocument/2006/relationships/image" Target="../media/image215.png"/><Relationship Id="rId11" Type="http://schemas.openxmlformats.org/officeDocument/2006/relationships/image" Target="../media/image197.png"/><Relationship Id="rId24" Type="http://schemas.openxmlformats.org/officeDocument/2006/relationships/image" Target="../media/image210.svg"/><Relationship Id="rId32" Type="http://schemas.openxmlformats.org/officeDocument/2006/relationships/image" Target="../media/image218.svg"/><Relationship Id="rId37" Type="http://schemas.openxmlformats.org/officeDocument/2006/relationships/image" Target="../media/image223.png"/><Relationship Id="rId40" Type="http://schemas.openxmlformats.org/officeDocument/2006/relationships/image" Target="../media/image226.svg"/><Relationship Id="rId45" Type="http://schemas.openxmlformats.org/officeDocument/2006/relationships/image" Target="../media/image231.png"/><Relationship Id="rId53" Type="http://schemas.openxmlformats.org/officeDocument/2006/relationships/image" Target="../media/image239.png"/><Relationship Id="rId5" Type="http://schemas.openxmlformats.org/officeDocument/2006/relationships/image" Target="../media/image191.svg"/><Relationship Id="rId10" Type="http://schemas.openxmlformats.org/officeDocument/2006/relationships/image" Target="../media/image196.svg"/><Relationship Id="rId19" Type="http://schemas.openxmlformats.org/officeDocument/2006/relationships/image" Target="../media/image205.png"/><Relationship Id="rId31" Type="http://schemas.openxmlformats.org/officeDocument/2006/relationships/image" Target="../media/image217.png"/><Relationship Id="rId44" Type="http://schemas.openxmlformats.org/officeDocument/2006/relationships/image" Target="../media/image230.svg"/><Relationship Id="rId52" Type="http://schemas.openxmlformats.org/officeDocument/2006/relationships/image" Target="../media/image238.sv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0.svg"/><Relationship Id="rId22" Type="http://schemas.openxmlformats.org/officeDocument/2006/relationships/image" Target="../media/image208.svg"/><Relationship Id="rId27" Type="http://schemas.openxmlformats.org/officeDocument/2006/relationships/image" Target="../media/image213.png"/><Relationship Id="rId30" Type="http://schemas.openxmlformats.org/officeDocument/2006/relationships/image" Target="../media/image216.svg"/><Relationship Id="rId35" Type="http://schemas.openxmlformats.org/officeDocument/2006/relationships/image" Target="../media/image221.png"/><Relationship Id="rId43" Type="http://schemas.openxmlformats.org/officeDocument/2006/relationships/image" Target="../media/image229.png"/><Relationship Id="rId48" Type="http://schemas.openxmlformats.org/officeDocument/2006/relationships/image" Target="../media/image234.svg"/><Relationship Id="rId56" Type="http://schemas.openxmlformats.org/officeDocument/2006/relationships/image" Target="../media/image242.svg"/><Relationship Id="rId8" Type="http://schemas.openxmlformats.org/officeDocument/2006/relationships/image" Target="../media/image194.png"/><Relationship Id="rId51" Type="http://schemas.openxmlformats.org/officeDocument/2006/relationships/image" Target="../media/image237.png"/><Relationship Id="rId3" Type="http://schemas.openxmlformats.org/officeDocument/2006/relationships/image" Target="../media/image1.jpeg"/><Relationship Id="rId12" Type="http://schemas.openxmlformats.org/officeDocument/2006/relationships/image" Target="../media/image198.svg"/><Relationship Id="rId17" Type="http://schemas.openxmlformats.org/officeDocument/2006/relationships/image" Target="../media/image203.png"/><Relationship Id="rId25" Type="http://schemas.openxmlformats.org/officeDocument/2006/relationships/image" Target="../media/image211.png"/><Relationship Id="rId33" Type="http://schemas.openxmlformats.org/officeDocument/2006/relationships/image" Target="../media/image219.png"/><Relationship Id="rId38" Type="http://schemas.openxmlformats.org/officeDocument/2006/relationships/image" Target="../media/image224.svg"/><Relationship Id="rId46" Type="http://schemas.openxmlformats.org/officeDocument/2006/relationships/image" Target="../media/image232.svg"/><Relationship Id="rId20" Type="http://schemas.openxmlformats.org/officeDocument/2006/relationships/image" Target="../media/image206.svg"/><Relationship Id="rId41" Type="http://schemas.openxmlformats.org/officeDocument/2006/relationships/image" Target="../media/image227.png"/><Relationship Id="rId54" Type="http://schemas.openxmlformats.org/officeDocument/2006/relationships/image" Target="../media/image2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5" Type="http://schemas.openxmlformats.org/officeDocument/2006/relationships/image" Target="../media/image201.png"/><Relationship Id="rId23" Type="http://schemas.openxmlformats.org/officeDocument/2006/relationships/image" Target="../media/image209.png"/><Relationship Id="rId28" Type="http://schemas.openxmlformats.org/officeDocument/2006/relationships/image" Target="../media/image214.svg"/><Relationship Id="rId36" Type="http://schemas.openxmlformats.org/officeDocument/2006/relationships/image" Target="../media/image222.svg"/><Relationship Id="rId49" Type="http://schemas.openxmlformats.org/officeDocument/2006/relationships/image" Target="../media/image2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Cover Page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9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4" name="image 7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37" y="1255"/>
            <a:ext cx="5001824" cy="6858873"/>
          </a:xfrm>
          <a:prstGeom prst="rect">
            <a:avLst/>
          </a:prstGeom>
        </p:spPr>
      </p:pic>
      <p:pic>
        <p:nvPicPr>
          <p:cNvPr id="5" name="image 4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62100" y="572880"/>
            <a:ext cx="1762338" cy="610216"/>
          </a:xfrm>
          <a:prstGeom prst="rect">
            <a:avLst/>
          </a:prstGeom>
        </p:spPr>
      </p:pic>
      <p:pic>
        <p:nvPicPr>
          <p:cNvPr id="6" name="Ellipse 1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7" name="Ellipse 2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40378" y="0"/>
            <a:ext cx="3852819" cy="3853756"/>
          </a:xfrm>
          <a:prstGeom prst="rect">
            <a:avLst/>
          </a:prstGeom>
        </p:spPr>
      </p:pic>
      <p:sp>
        <p:nvSpPr>
          <p:cNvPr id="8" name="Medical Device Recall Management System"/>
          <p:cNvSpPr/>
          <p:nvPr/>
        </p:nvSpPr>
        <p:spPr>
          <a:xfrm rot="-600">
            <a:off x="732717" y="2677537"/>
            <a:ext cx="5812111" cy="15059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MEDICAL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DEVICE RECALL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MANAGEMENT 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SYSTEM</a:t>
            </a:r>
            <a:endParaRPr lang="en-US" sz="4050" dirty="0"/>
          </a:p>
        </p:txBody>
      </p:sp>
      <p:sp>
        <p:nvSpPr>
          <p:cNvPr id="9" name="wwwrecallwirecom"/>
          <p:cNvSpPr/>
          <p:nvPr/>
        </p:nvSpPr>
        <p:spPr>
          <a:xfrm rot="-600">
            <a:off x="763076" y="6164371"/>
            <a:ext cx="1733572" cy="1241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www.recallwire.com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8338-60A6-7FA4-C5FE-1728E6BA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5" descr="preencoded.png">
            <a:extLst>
              <a:ext uri="{FF2B5EF4-FFF2-40B4-BE49-F238E27FC236}">
                <a16:creationId xmlns:a16="http://schemas.microsoft.com/office/drawing/2014/main" id="{06D8976F-2510-964F-AE30-3B1D36A56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1" descr="preencoded.png">
            <a:extLst>
              <a:ext uri="{FF2B5EF4-FFF2-40B4-BE49-F238E27FC236}">
                <a16:creationId xmlns:a16="http://schemas.microsoft.com/office/drawing/2014/main" id="{D33D3B1C-51F9-403A-0088-3BEB5FC932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188141"/>
            <a:ext cx="12184866" cy="6850603"/>
          </a:xfrm>
          <a:prstGeom prst="rect">
            <a:avLst/>
          </a:prstGeom>
        </p:spPr>
      </p:pic>
      <p:pic>
        <p:nvPicPr>
          <p:cNvPr id="4" name="Layer_1" descr="preencoded.png">
            <a:extLst>
              <a:ext uri="{FF2B5EF4-FFF2-40B4-BE49-F238E27FC236}">
                <a16:creationId xmlns:a16="http://schemas.microsoft.com/office/drawing/2014/main" id="{316B46D4-21A0-9D31-95F8-40DB97E1A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801201" cy="2345371"/>
          </a:xfrm>
          <a:prstGeom prst="rect">
            <a:avLst/>
          </a:prstGeom>
        </p:spPr>
      </p:pic>
      <p:pic>
        <p:nvPicPr>
          <p:cNvPr id="5" name="Layer_1" descr="preencoded.png">
            <a:extLst>
              <a:ext uri="{FF2B5EF4-FFF2-40B4-BE49-F238E27FC236}">
                <a16:creationId xmlns:a16="http://schemas.microsoft.com/office/drawing/2014/main" id="{DFAC2EB9-A76B-9318-6CDA-745AC97B61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373363" y="4346779"/>
            <a:ext cx="2819834" cy="2513349"/>
          </a:xfrm>
          <a:prstGeom prst="rect">
            <a:avLst/>
          </a:prstGeom>
        </p:spPr>
      </p:pic>
      <p:pic>
        <p:nvPicPr>
          <p:cNvPr id="6" name="Rectangle 10" descr="preencoded.png">
            <a:extLst>
              <a:ext uri="{FF2B5EF4-FFF2-40B4-BE49-F238E27FC236}">
                <a16:creationId xmlns:a16="http://schemas.microsoft.com/office/drawing/2014/main" id="{B08B65B2-ACB2-01DC-6137-51CC52BBEF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1381362" y="1364937"/>
            <a:ext cx="3334348" cy="1715664"/>
          </a:xfrm>
          <a:prstGeom prst="rect">
            <a:avLst/>
          </a:prstGeom>
        </p:spPr>
      </p:pic>
      <p:pic>
        <p:nvPicPr>
          <p:cNvPr id="7" name="Ellipse 3" descr="preencoded.png">
            <a:extLst>
              <a:ext uri="{FF2B5EF4-FFF2-40B4-BE49-F238E27FC236}">
                <a16:creationId xmlns:a16="http://schemas.microsoft.com/office/drawing/2014/main" id="{BC201B55-DF7E-3D69-31E6-7D58493E28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525814" y="1510565"/>
            <a:ext cx="676511" cy="676511"/>
          </a:xfrm>
          <a:prstGeom prst="rect">
            <a:avLst/>
          </a:prstGeom>
        </p:spPr>
      </p:pic>
      <p:pic>
        <p:nvPicPr>
          <p:cNvPr id="8" name="Group" descr="preencoded.png">
            <a:extLst>
              <a:ext uri="{FF2B5EF4-FFF2-40B4-BE49-F238E27FC236}">
                <a16:creationId xmlns:a16="http://schemas.microsoft.com/office/drawing/2014/main" id="{262005E9-1ADB-3986-51D5-C7763402BC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695143" y="1707309"/>
            <a:ext cx="333478" cy="295391"/>
          </a:xfrm>
          <a:prstGeom prst="rect">
            <a:avLst/>
          </a:prstGeom>
        </p:spPr>
      </p:pic>
      <p:pic>
        <p:nvPicPr>
          <p:cNvPr id="9" name="Ellipse 7" descr="preencoded.png">
            <a:extLst>
              <a:ext uri="{FF2B5EF4-FFF2-40B4-BE49-F238E27FC236}">
                <a16:creationId xmlns:a16="http://schemas.microsoft.com/office/drawing/2014/main" id="{8C5AF9A7-0532-6392-08BB-87CB356233E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551273" y="1536035"/>
            <a:ext cx="623888" cy="623888"/>
          </a:xfrm>
          <a:prstGeom prst="rect">
            <a:avLst/>
          </a:prstGeom>
        </p:spPr>
      </p:pic>
      <p:pic>
        <p:nvPicPr>
          <p:cNvPr id="10" name="Ellipse 1" descr="preencoded.png">
            <a:extLst>
              <a:ext uri="{FF2B5EF4-FFF2-40B4-BE49-F238E27FC236}">
                <a16:creationId xmlns:a16="http://schemas.microsoft.com/office/drawing/2014/main" id="{DB471039-7D1A-53CF-DF3E-57A7CC0B644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11" name="Rectangle 6" descr="preencoded.png">
            <a:extLst>
              <a:ext uri="{FF2B5EF4-FFF2-40B4-BE49-F238E27FC236}">
                <a16:creationId xmlns:a16="http://schemas.microsoft.com/office/drawing/2014/main" id="{001F3E50-7E16-9E1D-2B2F-AB5BE4B7BF5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4429613" y="2793155"/>
            <a:ext cx="3334348" cy="1715664"/>
          </a:xfrm>
          <a:prstGeom prst="rect">
            <a:avLst/>
          </a:prstGeom>
        </p:spPr>
      </p:pic>
      <p:pic>
        <p:nvPicPr>
          <p:cNvPr id="12" name="Ellipse 14" descr="preencoded.png">
            <a:extLst>
              <a:ext uri="{FF2B5EF4-FFF2-40B4-BE49-F238E27FC236}">
                <a16:creationId xmlns:a16="http://schemas.microsoft.com/office/drawing/2014/main" id="{A5FFC792-F653-52F0-ABE0-0063EC0847F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575251" y="2936932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>
            <a:extLst>
              <a:ext uri="{FF2B5EF4-FFF2-40B4-BE49-F238E27FC236}">
                <a16:creationId xmlns:a16="http://schemas.microsoft.com/office/drawing/2014/main" id="{D58891F2-33FA-2DDB-E028-D2BC5FD77D0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4767723" y="3126242"/>
            <a:ext cx="285853" cy="295375"/>
          </a:xfrm>
          <a:prstGeom prst="rect">
            <a:avLst/>
          </a:prstGeom>
        </p:spPr>
      </p:pic>
      <p:pic>
        <p:nvPicPr>
          <p:cNvPr id="14" name="Ellipse 15" descr="preencoded.png">
            <a:extLst>
              <a:ext uri="{FF2B5EF4-FFF2-40B4-BE49-F238E27FC236}">
                <a16:creationId xmlns:a16="http://schemas.microsoft.com/office/drawing/2014/main" id="{EA5C32FD-042E-DEF0-D917-99CEACC4FE4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00710" y="2962402"/>
            <a:ext cx="623888" cy="623888"/>
          </a:xfrm>
          <a:prstGeom prst="rect">
            <a:avLst/>
          </a:prstGeom>
        </p:spPr>
      </p:pic>
      <p:pic>
        <p:nvPicPr>
          <p:cNvPr id="15" name="Rectangle 7" descr="preencoded.png">
            <a:extLst>
              <a:ext uri="{FF2B5EF4-FFF2-40B4-BE49-F238E27FC236}">
                <a16:creationId xmlns:a16="http://schemas.microsoft.com/office/drawing/2014/main" id="{FC91274E-45D2-B58A-830A-2FB984FA77F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477860" y="4221374"/>
            <a:ext cx="3334348" cy="1715664"/>
          </a:xfrm>
          <a:prstGeom prst="rect">
            <a:avLst/>
          </a:prstGeom>
        </p:spPr>
      </p:pic>
      <p:pic>
        <p:nvPicPr>
          <p:cNvPr id="16" name="Rectangle 9" descr="preencoded.png">
            <a:extLst>
              <a:ext uri="{FF2B5EF4-FFF2-40B4-BE49-F238E27FC236}">
                <a16:creationId xmlns:a16="http://schemas.microsoft.com/office/drawing/2014/main" id="{9DA41C7E-7B61-9A08-CFF6-4EF0AC4C8B1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7477362" y="1363873"/>
            <a:ext cx="3334348" cy="1715664"/>
          </a:xfrm>
          <a:prstGeom prst="rect">
            <a:avLst/>
          </a:prstGeom>
        </p:spPr>
      </p:pic>
      <p:pic>
        <p:nvPicPr>
          <p:cNvPr id="17" name="Rectangle 8" descr="preencoded.png">
            <a:extLst>
              <a:ext uri="{FF2B5EF4-FFF2-40B4-BE49-F238E27FC236}">
                <a16:creationId xmlns:a16="http://schemas.microsoft.com/office/drawing/2014/main" id="{25F9DF1D-99D7-FA42-754D-6591A03C5D6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1381860" y="4222437"/>
            <a:ext cx="3334348" cy="1715664"/>
          </a:xfrm>
          <a:prstGeom prst="rect">
            <a:avLst/>
          </a:prstGeom>
        </p:spPr>
      </p:pic>
      <p:pic>
        <p:nvPicPr>
          <p:cNvPr id="18" name="Ellipse 10" descr="preencoded.png">
            <a:extLst>
              <a:ext uri="{FF2B5EF4-FFF2-40B4-BE49-F238E27FC236}">
                <a16:creationId xmlns:a16="http://schemas.microsoft.com/office/drawing/2014/main" id="{FF2161D2-0342-3100-A7AF-9F14B5AC445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1526311" y="4369757"/>
            <a:ext cx="676511" cy="676511"/>
          </a:xfrm>
          <a:prstGeom prst="rect">
            <a:avLst/>
          </a:prstGeom>
        </p:spPr>
      </p:pic>
      <p:pic>
        <p:nvPicPr>
          <p:cNvPr id="19" name="Group" descr="preencoded.png">
            <a:extLst>
              <a:ext uri="{FF2B5EF4-FFF2-40B4-BE49-F238E27FC236}">
                <a16:creationId xmlns:a16="http://schemas.microsoft.com/office/drawing/2014/main" id="{8D803B27-7C60-E9A7-C832-C4F2F415648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1709524" y="4556517"/>
            <a:ext cx="295378" cy="295378"/>
          </a:xfrm>
          <a:prstGeom prst="rect">
            <a:avLst/>
          </a:prstGeom>
        </p:spPr>
      </p:pic>
      <p:pic>
        <p:nvPicPr>
          <p:cNvPr id="20" name="Ellipse 8" descr="preencoded.png">
            <a:extLst>
              <a:ext uri="{FF2B5EF4-FFF2-40B4-BE49-F238E27FC236}">
                <a16:creationId xmlns:a16="http://schemas.microsoft.com/office/drawing/2014/main" id="{05B2CB49-0CFF-E7F2-A153-838C09DBBD7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625790" y="1509500"/>
            <a:ext cx="676511" cy="676511"/>
          </a:xfrm>
          <a:prstGeom prst="rect">
            <a:avLst/>
          </a:prstGeom>
        </p:spPr>
      </p:pic>
      <p:pic>
        <p:nvPicPr>
          <p:cNvPr id="21" name="Group" descr="preencoded.png">
            <a:extLst>
              <a:ext uri="{FF2B5EF4-FFF2-40B4-BE49-F238E27FC236}">
                <a16:creationId xmlns:a16="http://schemas.microsoft.com/office/drawing/2014/main" id="{35D4D595-F4DF-9FE6-5C03-E6354DDDEDC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814081" y="1702653"/>
            <a:ext cx="295375" cy="285853"/>
          </a:xfrm>
          <a:prstGeom prst="rect">
            <a:avLst/>
          </a:prstGeom>
        </p:spPr>
      </p:pic>
      <p:pic>
        <p:nvPicPr>
          <p:cNvPr id="22" name="Ellipse 11" descr="preencoded.png">
            <a:extLst>
              <a:ext uri="{FF2B5EF4-FFF2-40B4-BE49-F238E27FC236}">
                <a16:creationId xmlns:a16="http://schemas.microsoft.com/office/drawing/2014/main" id="{E2BBB0D5-FC6A-FBF5-A1FD-A2B8C31A5F9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7626288" y="4368692"/>
            <a:ext cx="676511" cy="676511"/>
          </a:xfrm>
          <a:prstGeom prst="rect">
            <a:avLst/>
          </a:prstGeom>
        </p:spPr>
      </p:pic>
      <p:pic>
        <p:nvPicPr>
          <p:cNvPr id="23" name="Group" descr="preencoded.png">
            <a:extLst>
              <a:ext uri="{FF2B5EF4-FFF2-40B4-BE49-F238E27FC236}">
                <a16:creationId xmlns:a16="http://schemas.microsoft.com/office/drawing/2014/main" id="{2D7B0CDA-5E83-4C00-D80E-2DD10327C6F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7784004" y="4543825"/>
            <a:ext cx="362063" cy="323976"/>
          </a:xfrm>
          <a:prstGeom prst="rect">
            <a:avLst/>
          </a:prstGeom>
        </p:spPr>
      </p:pic>
      <p:pic>
        <p:nvPicPr>
          <p:cNvPr id="24" name="Ellipse 12" descr="preencoded.png">
            <a:extLst>
              <a:ext uri="{FF2B5EF4-FFF2-40B4-BE49-F238E27FC236}">
                <a16:creationId xmlns:a16="http://schemas.microsoft.com/office/drawing/2014/main" id="{AED489B3-E74C-492F-19CE-DD3CE2C1AC3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551770" y="4395225"/>
            <a:ext cx="623888" cy="623888"/>
          </a:xfrm>
          <a:prstGeom prst="rect">
            <a:avLst/>
          </a:prstGeom>
        </p:spPr>
      </p:pic>
      <p:pic>
        <p:nvPicPr>
          <p:cNvPr id="25" name="Ellipse 9" descr="preencoded.png">
            <a:extLst>
              <a:ext uri="{FF2B5EF4-FFF2-40B4-BE49-F238E27FC236}">
                <a16:creationId xmlns:a16="http://schemas.microsoft.com/office/drawing/2014/main" id="{6DE13B98-A15E-9EE8-1927-78C93F9AB15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7651249" y="1534970"/>
            <a:ext cx="623888" cy="623888"/>
          </a:xfrm>
          <a:prstGeom prst="rect">
            <a:avLst/>
          </a:prstGeom>
        </p:spPr>
      </p:pic>
      <p:pic>
        <p:nvPicPr>
          <p:cNvPr id="26" name="Ellipse 13" descr="preencoded.png">
            <a:extLst>
              <a:ext uri="{FF2B5EF4-FFF2-40B4-BE49-F238E27FC236}">
                <a16:creationId xmlns:a16="http://schemas.microsoft.com/office/drawing/2014/main" id="{7C0EA07C-630A-1451-EB13-CC083E1D0D5E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7651747" y="4394160"/>
            <a:ext cx="623888" cy="623888"/>
          </a:xfrm>
          <a:prstGeom prst="rect">
            <a:avLst/>
          </a:prstGeom>
        </p:spPr>
      </p:pic>
      <p:sp>
        <p:nvSpPr>
          <p:cNvPr id="27" name="FDA Matching">
            <a:extLst>
              <a:ext uri="{FF2B5EF4-FFF2-40B4-BE49-F238E27FC236}">
                <a16:creationId xmlns:a16="http://schemas.microsoft.com/office/drawing/2014/main" id="{C47137CA-0C5D-DDC7-D705-41A327DF4925}"/>
              </a:ext>
            </a:extLst>
          </p:cNvPr>
          <p:cNvSpPr/>
          <p:nvPr/>
        </p:nvSpPr>
        <p:spPr>
          <a:xfrm rot="-600">
            <a:off x="2296567" y="1780106"/>
            <a:ext cx="1504973" cy="1336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FDA MATCHING</a:t>
            </a:r>
            <a:endParaRPr lang="en-US" sz="1500" dirty="0"/>
          </a:p>
        </p:txBody>
      </p:sp>
      <p:sp>
        <p:nvSpPr>
          <p:cNvPr id="28" name="name_05">
            <a:extLst>
              <a:ext uri="{FF2B5EF4-FFF2-40B4-BE49-F238E27FC236}">
                <a16:creationId xmlns:a16="http://schemas.microsoft.com/office/drawing/2014/main" id="{3C2EC75D-38A0-5E8B-69F8-8FA8B7C80BCE}"/>
              </a:ext>
            </a:extLst>
          </p:cNvPr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29" name="Streamline">
            <a:extLst>
              <a:ext uri="{FF2B5EF4-FFF2-40B4-BE49-F238E27FC236}">
                <a16:creationId xmlns:a16="http://schemas.microsoft.com/office/drawing/2014/main" id="{24148D61-F9C8-2C03-89BF-EE01B684D659}"/>
              </a:ext>
            </a:extLst>
          </p:cNvPr>
          <p:cNvSpPr/>
          <p:nvPr/>
        </p:nvSpPr>
        <p:spPr>
          <a:xfrm rot="-600">
            <a:off x="1381357" y="572303"/>
            <a:ext cx="9520321" cy="362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cs typeface="Poppins Medium" pitchFamily="34" charset="-120"/>
              </a:rPr>
              <a:t>Recall Management’s Current State</a:t>
            </a:r>
            <a:endParaRPr lang="en-US" sz="4050" dirty="0"/>
          </a:p>
        </p:txBody>
      </p:sp>
      <p:sp>
        <p:nvSpPr>
          <p:cNvPr id="30" name="Custom Escalations">
            <a:extLst>
              <a:ext uri="{FF2B5EF4-FFF2-40B4-BE49-F238E27FC236}">
                <a16:creationId xmlns:a16="http://schemas.microsoft.com/office/drawing/2014/main" id="{A09E3B63-8810-E6A5-46FD-006E66A7CC5F}"/>
              </a:ext>
            </a:extLst>
          </p:cNvPr>
          <p:cNvSpPr/>
          <p:nvPr/>
        </p:nvSpPr>
        <p:spPr>
          <a:xfrm rot="-600">
            <a:off x="5344083" y="3206351"/>
            <a:ext cx="2228873" cy="1337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CUSTOM ESCALATIONS</a:t>
            </a:r>
            <a:endParaRPr lang="en-US" sz="1500" dirty="0"/>
          </a:p>
        </p:txBody>
      </p:sp>
      <p:sp>
        <p:nvSpPr>
          <p:cNvPr id="31" name="AI-Driven reports">
            <a:extLst>
              <a:ext uri="{FF2B5EF4-FFF2-40B4-BE49-F238E27FC236}">
                <a16:creationId xmlns:a16="http://schemas.microsoft.com/office/drawing/2014/main" id="{26A6687F-57D2-1E1E-97C7-B030DF940CBA}"/>
              </a:ext>
            </a:extLst>
          </p:cNvPr>
          <p:cNvSpPr/>
          <p:nvPr/>
        </p:nvSpPr>
        <p:spPr>
          <a:xfrm rot="-600">
            <a:off x="2297064" y="4639225"/>
            <a:ext cx="1914548" cy="1336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AI-DRIVEN REPORTS</a:t>
            </a:r>
            <a:endParaRPr lang="en-US" sz="1500" dirty="0"/>
          </a:p>
        </p:txBody>
      </p:sp>
      <p:sp>
        <p:nvSpPr>
          <p:cNvPr id="32" name="Processing Speed">
            <a:extLst>
              <a:ext uri="{FF2B5EF4-FFF2-40B4-BE49-F238E27FC236}">
                <a16:creationId xmlns:a16="http://schemas.microsoft.com/office/drawing/2014/main" id="{0509DB69-34BE-372A-5E92-5D3BF791B36C}"/>
              </a:ext>
            </a:extLst>
          </p:cNvPr>
          <p:cNvSpPr/>
          <p:nvPr/>
        </p:nvSpPr>
        <p:spPr>
          <a:xfrm rot="-600">
            <a:off x="8398004" y="4638166"/>
            <a:ext cx="1876448" cy="133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PROCESSING SPEED</a:t>
            </a:r>
            <a:endParaRPr lang="en-US" sz="1500" dirty="0"/>
          </a:p>
        </p:txBody>
      </p:sp>
      <p:sp>
        <p:nvSpPr>
          <p:cNvPr id="33" name="Non-FDA Screening">
            <a:extLst>
              <a:ext uri="{FF2B5EF4-FFF2-40B4-BE49-F238E27FC236}">
                <a16:creationId xmlns:a16="http://schemas.microsoft.com/office/drawing/2014/main" id="{C9161A44-BE7B-0E72-77B4-FAD3C8E7F009}"/>
              </a:ext>
            </a:extLst>
          </p:cNvPr>
          <p:cNvSpPr/>
          <p:nvPr/>
        </p:nvSpPr>
        <p:spPr>
          <a:xfrm rot="-600">
            <a:off x="8397506" y="1778944"/>
            <a:ext cx="2085998" cy="133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NON-FDA SCREENING</a:t>
            </a:r>
            <a:endParaRPr lang="en-US" sz="1500" dirty="0"/>
          </a:p>
        </p:txBody>
      </p:sp>
      <p:sp>
        <p:nvSpPr>
          <p:cNvPr id="34" name="Automated FDA recall matching against purchase and inventory data">
            <a:extLst>
              <a:ext uri="{FF2B5EF4-FFF2-40B4-BE49-F238E27FC236}">
                <a16:creationId xmlns:a16="http://schemas.microsoft.com/office/drawing/2014/main" id="{45C86EC8-8E6F-4AED-F5DD-4F4BC25B1A49}"/>
              </a:ext>
            </a:extLst>
          </p:cNvPr>
          <p:cNvSpPr/>
          <p:nvPr/>
        </p:nvSpPr>
        <p:spPr>
          <a:xfrm rot="-600">
            <a:off x="1525963" y="2379135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Automated FDA recall matching against purchase and inventory data</a:t>
            </a:r>
            <a:endParaRPr lang="en-US" sz="1125" dirty="0"/>
          </a:p>
        </p:txBody>
      </p:sp>
      <p:sp>
        <p:nvSpPr>
          <p:cNvPr id="35" name="AI-driven reports from top-level insight to granular detail">
            <a:extLst>
              <a:ext uri="{FF2B5EF4-FFF2-40B4-BE49-F238E27FC236}">
                <a16:creationId xmlns:a16="http://schemas.microsoft.com/office/drawing/2014/main" id="{D34A9989-6833-AC1D-7C38-9BDF270705C3}"/>
              </a:ext>
            </a:extLst>
          </p:cNvPr>
          <p:cNvSpPr/>
          <p:nvPr/>
        </p:nvSpPr>
        <p:spPr>
          <a:xfrm rot="-600">
            <a:off x="1526460" y="523272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AI-driven reports from top-level insight to granular detail</a:t>
            </a:r>
            <a:endParaRPr lang="en-US" sz="1125" dirty="0"/>
          </a:p>
        </p:txBody>
      </p:sp>
      <p:sp>
        <p:nvSpPr>
          <p:cNvPr id="36" name="Recall processing time reduced by 95">
            <a:extLst>
              <a:ext uri="{FF2B5EF4-FFF2-40B4-BE49-F238E27FC236}">
                <a16:creationId xmlns:a16="http://schemas.microsoft.com/office/drawing/2014/main" id="{458D7B43-A1B0-71F5-871F-666BA9251CE2}"/>
              </a:ext>
            </a:extLst>
          </p:cNvPr>
          <p:cNvSpPr/>
          <p:nvPr/>
        </p:nvSpPr>
        <p:spPr>
          <a:xfrm rot="-600">
            <a:off x="7626437" y="5231745"/>
            <a:ext cx="2408796" cy="2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processing time reduced by 95%</a:t>
            </a:r>
            <a:endParaRPr lang="en-US" sz="1125" dirty="0"/>
          </a:p>
        </p:txBody>
      </p:sp>
      <p:sp>
        <p:nvSpPr>
          <p:cNvPr id="37" name="Custom escalation paths department mapping and integrations">
            <a:extLst>
              <a:ext uri="{FF2B5EF4-FFF2-40B4-BE49-F238E27FC236}">
                <a16:creationId xmlns:a16="http://schemas.microsoft.com/office/drawing/2014/main" id="{58BFB70E-2E7A-2437-47AE-3AD6B7CC95EB}"/>
              </a:ext>
            </a:extLst>
          </p:cNvPr>
          <p:cNvSpPr/>
          <p:nvPr/>
        </p:nvSpPr>
        <p:spPr>
          <a:xfrm rot="-600">
            <a:off x="4575404" y="3799896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Custom escalation paths, department mapping, and integrations</a:t>
            </a:r>
            <a:endParaRPr lang="en-US" sz="1125" dirty="0"/>
          </a:p>
        </p:txBody>
      </p:sp>
      <p:sp>
        <p:nvSpPr>
          <p:cNvPr id="38" name="Easy upload and screening for non-FDA recalls">
            <a:extLst>
              <a:ext uri="{FF2B5EF4-FFF2-40B4-BE49-F238E27FC236}">
                <a16:creationId xmlns:a16="http://schemas.microsoft.com/office/drawing/2014/main" id="{830C0F7F-90C7-A4AE-AE2A-476E78C0EC4C}"/>
              </a:ext>
            </a:extLst>
          </p:cNvPr>
          <p:cNvSpPr/>
          <p:nvPr/>
        </p:nvSpPr>
        <p:spPr>
          <a:xfrm rot="-600">
            <a:off x="7625944" y="237807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Easy upload and screening for non-FDA recalls</a:t>
            </a:r>
            <a:endParaRPr lang="en-US" sz="1125" dirty="0"/>
          </a:p>
        </p:txBody>
      </p:sp>
    </p:spTree>
    <p:extLst>
      <p:ext uri="{BB962C8B-B14F-4D97-AF65-F5344CB8AC3E}">
        <p14:creationId xmlns:p14="http://schemas.microsoft.com/office/powerpoint/2010/main" val="400840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001558" y="5344109"/>
            <a:ext cx="1924555" cy="1448473"/>
          </a:xfrm>
          <a:prstGeom prst="rect">
            <a:avLst/>
          </a:prstGeom>
        </p:spPr>
      </p:pic>
      <p:pic>
        <p:nvPicPr>
          <p:cNvPr id="3" name="Ellips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41575" y="3009150"/>
            <a:ext cx="3851622" cy="3850978"/>
          </a:xfrm>
          <a:prstGeom prst="rect">
            <a:avLst/>
          </a:prstGeom>
        </p:spPr>
      </p:pic>
      <p:pic>
        <p:nvPicPr>
          <p:cNvPr id="4" name="image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0" y="1204"/>
            <a:ext cx="5296106" cy="4449099"/>
          </a:xfrm>
          <a:prstGeom prst="rect">
            <a:avLst/>
          </a:prstGeom>
        </p:spPr>
      </p:pic>
      <p:pic>
        <p:nvPicPr>
          <p:cNvPr id="5" name="Ellips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784463" y="1979638"/>
            <a:ext cx="676511" cy="676511"/>
          </a:xfrm>
          <a:prstGeom prst="rect">
            <a:avLst/>
          </a:prstGeom>
        </p:spPr>
      </p:pic>
      <p:pic>
        <p:nvPicPr>
          <p:cNvPr id="6" name="Group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987600" y="2146569"/>
            <a:ext cx="266800" cy="285843"/>
          </a:xfrm>
          <a:prstGeom prst="rect">
            <a:avLst/>
          </a:prstGeom>
        </p:spPr>
      </p:pic>
      <p:pic>
        <p:nvPicPr>
          <p:cNvPr id="7" name="Ellips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5809922" y="2005109"/>
            <a:ext cx="623888" cy="623888"/>
          </a:xfrm>
          <a:prstGeom prst="rect">
            <a:avLst/>
          </a:prstGeom>
        </p:spPr>
      </p:pic>
      <p:pic>
        <p:nvPicPr>
          <p:cNvPr id="8" name="Ellipse 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5784628" y="2938122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5997255" y="3126827"/>
            <a:ext cx="247753" cy="295361"/>
          </a:xfrm>
          <a:prstGeom prst="rect">
            <a:avLst/>
          </a:prstGeom>
        </p:spPr>
      </p:pic>
      <p:pic>
        <p:nvPicPr>
          <p:cNvPr id="10" name="Ellipse 5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784796" y="3896607"/>
            <a:ext cx="676511" cy="676511"/>
          </a:xfrm>
          <a:prstGeom prst="rect">
            <a:avLst/>
          </a:prstGeom>
        </p:spPr>
      </p:pic>
      <p:pic>
        <p:nvPicPr>
          <p:cNvPr id="11" name="Group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961638" y="4088947"/>
            <a:ext cx="323950" cy="285863"/>
          </a:xfrm>
          <a:prstGeom prst="rect">
            <a:avLst/>
          </a:prstGeom>
        </p:spPr>
      </p:pic>
      <p:pic>
        <p:nvPicPr>
          <p:cNvPr id="12" name="Ellipse 6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784963" y="4855093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973054" y="5039704"/>
            <a:ext cx="304906" cy="304906"/>
          </a:xfrm>
          <a:prstGeom prst="rect">
            <a:avLst/>
          </a:prstGeom>
        </p:spPr>
      </p:pic>
      <p:pic>
        <p:nvPicPr>
          <p:cNvPr id="14" name="Ellipse 8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5810090" y="2963591"/>
            <a:ext cx="623888" cy="623888"/>
          </a:xfrm>
          <a:prstGeom prst="rect">
            <a:avLst/>
          </a:prstGeom>
        </p:spPr>
      </p:pic>
      <p:pic>
        <p:nvPicPr>
          <p:cNvPr id="15" name="Ellipse 9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5810257" y="3922077"/>
            <a:ext cx="623888" cy="623888"/>
          </a:xfrm>
          <a:prstGeom prst="rect">
            <a:avLst/>
          </a:prstGeom>
        </p:spPr>
      </p:pic>
      <p:pic>
        <p:nvPicPr>
          <p:cNvPr id="16" name="Ellipse 10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5810424" y="4880563"/>
            <a:ext cx="623888" cy="623888"/>
          </a:xfrm>
          <a:prstGeom prst="rect">
            <a:avLst/>
          </a:prstGeom>
        </p:spPr>
      </p:pic>
      <p:pic>
        <p:nvPicPr>
          <p:cNvPr id="17" name="Layer_1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9763092" y="0"/>
            <a:ext cx="2430105" cy="2021494"/>
          </a:xfrm>
          <a:prstGeom prst="rect">
            <a:avLst/>
          </a:prstGeom>
        </p:spPr>
      </p:pic>
      <p:pic>
        <p:nvPicPr>
          <p:cNvPr id="18" name="485150444_122233977032201019_6148496236637161062_n 1" descr="preencoded.png"/>
          <p:cNvPicPr>
            <a:picLocks noChangeAspect="1"/>
          </p:cNvPicPr>
          <p:nvPr/>
        </p:nvPicPr>
        <p:blipFill>
          <a:blip r:embed="rId33"/>
          <a:srcRect/>
          <a:stretch>
            <a:fillRect/>
          </a:stretch>
        </p:blipFill>
        <p:spPr>
          <a:xfrm>
            <a:off x="0" y="0"/>
            <a:ext cx="5241221" cy="6860128"/>
          </a:xfrm>
          <a:prstGeom prst="rect">
            <a:avLst/>
          </a:prstGeom>
        </p:spPr>
      </p:pic>
      <p:sp>
        <p:nvSpPr>
          <p:cNvPr id="19" name="name_02"/>
          <p:cNvSpPr/>
          <p:nvPr/>
        </p:nvSpPr>
        <p:spPr>
          <a:xfrm rot="-600">
            <a:off x="11231052" y="6162806"/>
            <a:ext cx="238147" cy="1238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Automate"/>
          <p:cNvSpPr/>
          <p:nvPr/>
        </p:nvSpPr>
        <p:spPr>
          <a:xfrm rot="-600">
            <a:off x="5784349" y="1331688"/>
            <a:ext cx="2876613" cy="362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AUTOMATE</a:t>
            </a:r>
            <a:endParaRPr lang="en-US" sz="4050" dirty="0"/>
          </a:p>
        </p:txBody>
      </p:sp>
      <p:sp>
        <p:nvSpPr>
          <p:cNvPr id="21" name="Recall alerts delivered 2545 days faster than FDA traditional processes"/>
          <p:cNvSpPr/>
          <p:nvPr/>
        </p:nvSpPr>
        <p:spPr>
          <a:xfrm rot="-600">
            <a:off x="6610213" y="2139065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alerts delivered 25–45 days faster than FDA traditional processes</a:t>
            </a:r>
            <a:endParaRPr lang="en-US" sz="1350" dirty="0"/>
          </a:p>
        </p:txBody>
      </p:sp>
      <p:sp>
        <p:nvSpPr>
          <p:cNvPr id="22" name="AI platform receives notifications and instantly routes to responsible parties"/>
          <p:cNvSpPr/>
          <p:nvPr/>
        </p:nvSpPr>
        <p:spPr>
          <a:xfrm rot="-600">
            <a:off x="6610378" y="3097550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 platform receives notifications and instantly routes to responsible parties</a:t>
            </a:r>
            <a:endParaRPr lang="en-US" sz="1350" dirty="0"/>
          </a:p>
        </p:txBody>
      </p:sp>
      <p:sp>
        <p:nvSpPr>
          <p:cNvPr id="23" name="Immediate inventory identification and removal from shelves"/>
          <p:cNvSpPr/>
          <p:nvPr/>
        </p:nvSpPr>
        <p:spPr>
          <a:xfrm rot="-600">
            <a:off x="6610545" y="4056035"/>
            <a:ext cx="4714937" cy="35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Immediate inventory identification and removal from shelves</a:t>
            </a:r>
            <a:endParaRPr lang="en-US" sz="1350" dirty="0"/>
          </a:p>
        </p:txBody>
      </p:sp>
      <p:sp>
        <p:nvSpPr>
          <p:cNvPr id="24" name="End-to-end lifecycle visibility for every recall"/>
          <p:cNvSpPr/>
          <p:nvPr/>
        </p:nvSpPr>
        <p:spPr>
          <a:xfrm rot="-600">
            <a:off x="6610734" y="5128821"/>
            <a:ext cx="4714897" cy="1246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End-to-end lifecycle visibility for every recall</a:t>
            </a:r>
            <a:endParaRPr lang="en-US" sz="1350" dirty="0"/>
          </a:p>
        </p:txBody>
      </p:sp>
      <p:sp>
        <p:nvSpPr>
          <p:cNvPr id="25" name="wwwrecallwirecom"/>
          <p:cNvSpPr/>
          <p:nvPr/>
        </p:nvSpPr>
        <p:spPr>
          <a:xfrm rot="-600">
            <a:off x="496377" y="6173943"/>
            <a:ext cx="1733572" cy="1241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www.recallwire.com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4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Ellips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4" name="Rectangl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62260" y="1495029"/>
            <a:ext cx="7239499" cy="1431277"/>
          </a:xfrm>
          <a:prstGeom prst="rect">
            <a:avLst/>
          </a:prstGeom>
        </p:spPr>
      </p:pic>
      <p:pic>
        <p:nvPicPr>
          <p:cNvPr id="5" name="Rectangl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762530" y="3038079"/>
            <a:ext cx="7239499" cy="1431277"/>
          </a:xfrm>
          <a:prstGeom prst="rect">
            <a:avLst/>
          </a:prstGeom>
        </p:spPr>
      </p:pic>
      <p:pic>
        <p:nvPicPr>
          <p:cNvPr id="6" name="Rectangle 2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762800" y="4581129"/>
            <a:ext cx="7239499" cy="1431277"/>
          </a:xfrm>
          <a:prstGeom prst="rect">
            <a:avLst/>
          </a:prstGeom>
        </p:spPr>
      </p:pic>
      <p:pic>
        <p:nvPicPr>
          <p:cNvPr id="7" name="Layer_1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324822" y="0"/>
            <a:ext cx="3868375" cy="3396456"/>
          </a:xfrm>
          <a:prstGeom prst="rect">
            <a:avLst/>
          </a:prstGeom>
        </p:spPr>
      </p:pic>
      <p:pic>
        <p:nvPicPr>
          <p:cNvPr id="8" name="Ellipse 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952793" y="1687788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2499" y="1850110"/>
            <a:ext cx="333491" cy="333491"/>
          </a:xfrm>
          <a:prstGeom prst="rect">
            <a:avLst/>
          </a:prstGeom>
        </p:spPr>
      </p:pic>
      <p:pic>
        <p:nvPicPr>
          <p:cNvPr id="10" name="Ellips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978252" y="1713258"/>
            <a:ext cx="623888" cy="623888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953063" y="3230838"/>
            <a:ext cx="676511" cy="676511"/>
          </a:xfrm>
          <a:prstGeom prst="rect">
            <a:avLst/>
          </a:prstGeom>
        </p:spPr>
      </p:pic>
      <p:pic>
        <p:nvPicPr>
          <p:cNvPr id="12" name="Ellipse 7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978522" y="3256308"/>
            <a:ext cx="623888" cy="623888"/>
          </a:xfrm>
          <a:prstGeom prst="rect">
            <a:avLst/>
          </a:prstGeom>
        </p:spPr>
      </p:pic>
      <p:pic>
        <p:nvPicPr>
          <p:cNvPr id="13" name="Ellipse 3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953333" y="4773888"/>
            <a:ext cx="676511" cy="676511"/>
          </a:xfrm>
          <a:prstGeom prst="rect">
            <a:avLst/>
          </a:prstGeom>
        </p:spPr>
      </p:pic>
      <p:pic>
        <p:nvPicPr>
          <p:cNvPr id="14" name="Ellipse 7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978791" y="4799356"/>
            <a:ext cx="623888" cy="623888"/>
          </a:xfrm>
          <a:prstGeom prst="rect">
            <a:avLst/>
          </a:prstGeom>
        </p:spPr>
      </p:pic>
      <p:pic>
        <p:nvPicPr>
          <p:cNvPr id="15" name="Group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1123043" y="4943656"/>
            <a:ext cx="333491" cy="33349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1122769" y="3416646"/>
            <a:ext cx="333481" cy="304916"/>
          </a:xfrm>
          <a:prstGeom prst="rect">
            <a:avLst/>
          </a:prstGeom>
        </p:spPr>
      </p:pic>
      <p:pic>
        <p:nvPicPr>
          <p:cNvPr id="17" name="Untitled design (2) 1" descr="preencoded.png"/>
          <p:cNvPicPr>
            <a:picLocks noChangeAspect="1"/>
          </p:cNvPicPr>
          <p:nvPr/>
        </p:nvPicPr>
        <p:blipFill>
          <a:blip r:embed="rId31"/>
          <a:srcRect/>
          <a:stretch>
            <a:fillRect/>
          </a:stretch>
        </p:blipFill>
        <p:spPr>
          <a:xfrm>
            <a:off x="6553651" y="2570327"/>
            <a:ext cx="5639546" cy="4289801"/>
          </a:xfrm>
          <a:prstGeom prst="rect">
            <a:avLst/>
          </a:prstGeom>
        </p:spPr>
      </p:pic>
      <p:sp>
        <p:nvSpPr>
          <p:cNvPr id="18" name="name_04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Centralize"/>
          <p:cNvSpPr/>
          <p:nvPr/>
        </p:nvSpPr>
        <p:spPr>
          <a:xfrm rot="-600">
            <a:off x="762149" y="849072"/>
            <a:ext cx="3038538" cy="362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CENTRALIZE</a:t>
            </a:r>
            <a:endParaRPr lang="en-US" sz="4050" dirty="0"/>
          </a:p>
        </p:txBody>
      </p:sp>
      <p:sp>
        <p:nvSpPr>
          <p:cNvPr id="20" name="Recall Coordinator"/>
          <p:cNvSpPr/>
          <p:nvPr/>
        </p:nvSpPr>
        <p:spPr>
          <a:xfrm rot="-600">
            <a:off x="1726913" y="2045862"/>
            <a:ext cx="2695603" cy="162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RECALL COORDINATOR: </a:t>
            </a:r>
            <a:endParaRPr lang="en-US" sz="1800" dirty="0"/>
          </a:p>
        </p:txBody>
      </p:sp>
      <p:sp>
        <p:nvSpPr>
          <p:cNvPr id="21" name="Tier 1"/>
          <p:cNvSpPr/>
          <p:nvPr/>
        </p:nvSpPr>
        <p:spPr>
          <a:xfrm rot="-600">
            <a:off x="1726876" y="1840201"/>
            <a:ext cx="438168" cy="104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1</a:t>
            </a:r>
            <a:endParaRPr lang="en-US" sz="1200" dirty="0"/>
          </a:p>
        </p:txBody>
      </p:sp>
      <p:sp>
        <p:nvSpPr>
          <p:cNvPr id="22" name="Manages department inventory checks closes recalls"/>
          <p:cNvSpPr/>
          <p:nvPr/>
        </p:nvSpPr>
        <p:spPr>
          <a:xfrm rot="-600">
            <a:off x="952946" y="2557441"/>
            <a:ext cx="4703939" cy="1246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Manages department inventory checks, closes recalls</a:t>
            </a:r>
            <a:endParaRPr lang="en-US" sz="1350" dirty="0"/>
          </a:p>
        </p:txBody>
      </p:sp>
      <p:sp>
        <p:nvSpPr>
          <p:cNvPr id="23" name="Recall Manager"/>
          <p:cNvSpPr/>
          <p:nvPr/>
        </p:nvSpPr>
        <p:spPr>
          <a:xfrm rot="-600">
            <a:off x="1727183" y="3585998"/>
            <a:ext cx="2124103" cy="1622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RECALL MANAGER:</a:t>
            </a:r>
            <a:endParaRPr lang="en-US" sz="1800" dirty="0"/>
          </a:p>
        </p:txBody>
      </p:sp>
      <p:sp>
        <p:nvSpPr>
          <p:cNvPr id="24" name="Tier 2"/>
          <p:cNvSpPr/>
          <p:nvPr/>
        </p:nvSpPr>
        <p:spPr>
          <a:xfrm rot="-600">
            <a:off x="1727146" y="3386254"/>
            <a:ext cx="485793" cy="10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2</a:t>
            </a:r>
            <a:endParaRPr lang="en-US" sz="1200" dirty="0"/>
          </a:p>
        </p:txBody>
      </p:sp>
      <p:sp>
        <p:nvSpPr>
          <p:cNvPr id="25" name="Can re-route recalls manage users close recalls for other departments"/>
          <p:cNvSpPr/>
          <p:nvPr/>
        </p:nvSpPr>
        <p:spPr>
          <a:xfrm rot="-600">
            <a:off x="953216" y="4100233"/>
            <a:ext cx="6251101" cy="124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Can re-route recalls, manage users, close recalls for other departments</a:t>
            </a:r>
            <a:endParaRPr lang="en-US" sz="1350" dirty="0"/>
          </a:p>
        </p:txBody>
      </p:sp>
      <p:sp>
        <p:nvSpPr>
          <p:cNvPr id="26" name="Administrator"/>
          <p:cNvSpPr/>
          <p:nvPr/>
        </p:nvSpPr>
        <p:spPr>
          <a:xfrm rot="-600">
            <a:off x="1727448" y="5129072"/>
            <a:ext cx="1962178" cy="162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ADMINISTRATOR:</a:t>
            </a:r>
            <a:endParaRPr lang="en-US" sz="1800" dirty="0"/>
          </a:p>
        </p:txBody>
      </p:sp>
      <p:sp>
        <p:nvSpPr>
          <p:cNvPr id="27" name="Tier 3"/>
          <p:cNvSpPr/>
          <p:nvPr/>
        </p:nvSpPr>
        <p:spPr>
          <a:xfrm rot="-600">
            <a:off x="1727415" y="4929302"/>
            <a:ext cx="485793" cy="10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15151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TIER 3</a:t>
            </a:r>
            <a:endParaRPr lang="en-US" sz="1200" dirty="0"/>
          </a:p>
        </p:txBody>
      </p:sp>
      <p:sp>
        <p:nvSpPr>
          <p:cNvPr id="28" name="Oversees escalates manages usersdepartments accesses full reporting"/>
          <p:cNvSpPr/>
          <p:nvPr/>
        </p:nvSpPr>
        <p:spPr>
          <a:xfrm rot="-600">
            <a:off x="953486" y="5643204"/>
            <a:ext cx="6655839" cy="124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Oversees, escalates, manages users/departments, accesses full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1476936"/>
            <a:ext cx="4249652" cy="3563999"/>
          </a:xfrm>
          <a:prstGeom prst="rect">
            <a:avLst/>
          </a:prstGeom>
        </p:spPr>
      </p:pic>
      <p:pic>
        <p:nvPicPr>
          <p:cNvPr id="3" name="Layer_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144265" y="800016"/>
            <a:ext cx="2048932" cy="1905441"/>
          </a:xfrm>
          <a:prstGeom prst="rect">
            <a:avLst/>
          </a:prstGeom>
        </p:spPr>
      </p:pic>
      <p:pic>
        <p:nvPicPr>
          <p:cNvPr id="4" name="Rectangl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293702" y="1905273"/>
            <a:ext cx="2667605" cy="1734481"/>
          </a:xfrm>
          <a:prstGeom prst="rect">
            <a:avLst/>
          </a:prstGeom>
        </p:spPr>
      </p:pic>
      <p:pic>
        <p:nvPicPr>
          <p:cNvPr id="5" name="Rectangl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294037" y="3829324"/>
            <a:ext cx="2667605" cy="1734481"/>
          </a:xfrm>
          <a:prstGeom prst="rect">
            <a:avLst/>
          </a:prstGeom>
        </p:spPr>
      </p:pic>
      <p:pic>
        <p:nvPicPr>
          <p:cNvPr id="6" name="Rectangl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153398" y="1904774"/>
            <a:ext cx="2667605" cy="1734481"/>
          </a:xfrm>
          <a:prstGeom prst="rect">
            <a:avLst/>
          </a:prstGeom>
        </p:spPr>
      </p:pic>
      <p:pic>
        <p:nvPicPr>
          <p:cNvPr id="7" name="Rectangl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8153733" y="3828824"/>
            <a:ext cx="2667605" cy="1734481"/>
          </a:xfrm>
          <a:prstGeom prst="rect">
            <a:avLst/>
          </a:prstGeom>
        </p:spPr>
      </p:pic>
      <p:pic>
        <p:nvPicPr>
          <p:cNvPr id="8" name="Ellipse 3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5436603" y="2048819"/>
            <a:ext cx="676511" cy="676511"/>
          </a:xfrm>
          <a:prstGeom prst="rect">
            <a:avLst/>
          </a:prstGeom>
        </p:spPr>
      </p:pic>
      <p:pic>
        <p:nvPicPr>
          <p:cNvPr id="9" name="Group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5618662" y="2249420"/>
            <a:ext cx="304903" cy="295381"/>
          </a:xfrm>
          <a:prstGeom prst="rect">
            <a:avLst/>
          </a:prstGeom>
        </p:spPr>
      </p:pic>
      <p:pic>
        <p:nvPicPr>
          <p:cNvPr id="10" name="Ellipse 7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5462062" y="2074289"/>
            <a:ext cx="623888" cy="623888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436938" y="3977932"/>
            <a:ext cx="676511" cy="676511"/>
          </a:xfrm>
          <a:prstGeom prst="rect">
            <a:avLst/>
          </a:prstGeom>
        </p:spPr>
      </p:pic>
      <p:pic>
        <p:nvPicPr>
          <p:cNvPr id="12" name="Ellipse 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462399" y="4003405"/>
            <a:ext cx="623888" cy="623888"/>
          </a:xfrm>
          <a:prstGeom prst="rect">
            <a:avLst/>
          </a:prstGeom>
        </p:spPr>
      </p:pic>
      <p:pic>
        <p:nvPicPr>
          <p:cNvPr id="13" name="Ellipse 3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8301730" y="2048319"/>
            <a:ext cx="676511" cy="676511"/>
          </a:xfrm>
          <a:prstGeom prst="rect">
            <a:avLst/>
          </a:prstGeom>
        </p:spPr>
      </p:pic>
      <p:pic>
        <p:nvPicPr>
          <p:cNvPr id="14" name="Ellipse 7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327189" y="2073789"/>
            <a:ext cx="623888" cy="623888"/>
          </a:xfrm>
          <a:prstGeom prst="rect">
            <a:avLst/>
          </a:prstGeom>
        </p:spPr>
      </p:pic>
      <p:pic>
        <p:nvPicPr>
          <p:cNvPr id="15" name="Ellipse 3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8302065" y="3977432"/>
            <a:ext cx="676511" cy="67651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8492342" y="4181931"/>
            <a:ext cx="295368" cy="266803"/>
          </a:xfrm>
          <a:prstGeom prst="rect">
            <a:avLst/>
          </a:prstGeom>
        </p:spPr>
      </p:pic>
      <p:pic>
        <p:nvPicPr>
          <p:cNvPr id="17" name="Ellipse 7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8327527" y="4002905"/>
            <a:ext cx="623888" cy="623888"/>
          </a:xfrm>
          <a:prstGeom prst="rect">
            <a:avLst/>
          </a:prstGeom>
        </p:spPr>
      </p:pic>
      <p:pic>
        <p:nvPicPr>
          <p:cNvPr id="18" name="Group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8514355" y="2237023"/>
            <a:ext cx="247753" cy="295361"/>
          </a:xfrm>
          <a:prstGeom prst="rect">
            <a:avLst/>
          </a:prstGeom>
        </p:spPr>
      </p:pic>
      <p:pic>
        <p:nvPicPr>
          <p:cNvPr id="19" name="Group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5640079" y="4154393"/>
            <a:ext cx="266800" cy="285843"/>
          </a:xfrm>
          <a:prstGeom prst="rect">
            <a:avLst/>
          </a:prstGeom>
        </p:spPr>
      </p:pic>
      <p:pic>
        <p:nvPicPr>
          <p:cNvPr id="20" name="Untitled design (3) 1" descr="preencoded.png"/>
          <p:cNvPicPr>
            <a:picLocks noChangeAspect="1"/>
          </p:cNvPicPr>
          <p:nvPr/>
        </p:nvPicPr>
        <p:blipFill>
          <a:blip r:embed="rId39"/>
          <a:srcRect/>
          <a:stretch>
            <a:fillRect/>
          </a:stretch>
        </p:blipFill>
        <p:spPr>
          <a:xfrm>
            <a:off x="0" y="2296494"/>
            <a:ext cx="6640153" cy="4563634"/>
          </a:xfrm>
          <a:prstGeom prst="rect">
            <a:avLst/>
          </a:prstGeom>
        </p:spPr>
      </p:pic>
      <p:sp>
        <p:nvSpPr>
          <p:cNvPr id="21" name="Visualize - Respond - Train"/>
          <p:cNvSpPr/>
          <p:nvPr/>
        </p:nvSpPr>
        <p:spPr>
          <a:xfrm rot="-600">
            <a:off x="2390924" y="846561"/>
            <a:ext cx="7658163" cy="3632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VISUALIZE - RESPOND - TRAIN</a:t>
            </a:r>
            <a:endParaRPr lang="en-US" sz="4050" dirty="0"/>
          </a:p>
        </p:txBody>
      </p:sp>
      <p:sp>
        <p:nvSpPr>
          <p:cNvPr id="22" name="name_03"/>
          <p:cNvSpPr/>
          <p:nvPr/>
        </p:nvSpPr>
        <p:spPr>
          <a:xfrm rot="-600">
            <a:off x="11223731" y="6162808"/>
            <a:ext cx="238147" cy="1238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03</a:t>
            </a:r>
            <a:endParaRPr lang="en-US" sz="1350" dirty="0"/>
          </a:p>
        </p:txBody>
      </p:sp>
      <p:sp>
        <p:nvSpPr>
          <p:cNvPr id="23" name="management training"/>
          <p:cNvSpPr/>
          <p:nvPr/>
        </p:nvSpPr>
        <p:spPr>
          <a:xfrm rot="-600">
            <a:off x="6210686" y="2213595"/>
            <a:ext cx="1438335" cy="343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MANAGEMENT 
TRAINING</a:t>
            </a:r>
            <a:endParaRPr lang="en-US" sz="1500" dirty="0"/>
          </a:p>
        </p:txBody>
      </p:sp>
      <p:sp>
        <p:nvSpPr>
          <p:cNvPr id="24" name="instant notifications"/>
          <p:cNvSpPr/>
          <p:nvPr/>
        </p:nvSpPr>
        <p:spPr>
          <a:xfrm rot="-600">
            <a:off x="6211023" y="4142701"/>
            <a:ext cx="1495485" cy="3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INSTANT
NOTIFICATIONS</a:t>
            </a:r>
            <a:endParaRPr lang="en-US" sz="1500" dirty="0"/>
          </a:p>
        </p:txBody>
      </p:sp>
      <p:sp>
        <p:nvSpPr>
          <p:cNvPr id="25" name="Unified platform"/>
          <p:cNvSpPr/>
          <p:nvPr/>
        </p:nvSpPr>
        <p:spPr>
          <a:xfrm rot="-600">
            <a:off x="9069744" y="2213166"/>
            <a:ext cx="1028760" cy="343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UNIFIED
PLATFORM</a:t>
            </a:r>
            <a:endParaRPr lang="en-US" sz="1500" dirty="0"/>
          </a:p>
        </p:txBody>
      </p:sp>
      <p:sp>
        <p:nvSpPr>
          <p:cNvPr id="26" name="Real-time execution"/>
          <p:cNvSpPr/>
          <p:nvPr/>
        </p:nvSpPr>
        <p:spPr>
          <a:xfrm rot="-600">
            <a:off x="9070081" y="4142267"/>
            <a:ext cx="1104960" cy="3430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REAL-TIME
EXECUTION </a:t>
            </a:r>
            <a:endParaRPr lang="en-US" sz="1500" dirty="0"/>
          </a:p>
        </p:txBody>
      </p:sp>
      <p:sp>
        <p:nvSpPr>
          <p:cNvPr id="27" name="Live web-based and management training for rapid recall handling"/>
          <p:cNvSpPr/>
          <p:nvPr/>
        </p:nvSpPr>
        <p:spPr>
          <a:xfrm rot="-600">
            <a:off x="5436754" y="2918871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Live web-based and management training for rapid recall handling</a:t>
            </a:r>
            <a:endParaRPr lang="en-US" sz="1125" dirty="0"/>
          </a:p>
        </p:txBody>
      </p:sp>
      <p:sp>
        <p:nvSpPr>
          <p:cNvPr id="28" name="Users receive instant notifications to their specific affected facilitydepartments"/>
          <p:cNvSpPr/>
          <p:nvPr/>
        </p:nvSpPr>
        <p:spPr>
          <a:xfrm rot="-600">
            <a:off x="5437091" y="4847985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Users receive instant notifications to their specific affected facility/department(s)</a:t>
            </a:r>
            <a:endParaRPr lang="en-US" sz="1125" dirty="0"/>
          </a:p>
        </p:txBody>
      </p:sp>
      <p:sp>
        <p:nvSpPr>
          <p:cNvPr id="29" name="Unified platform connecting all facilities and departments"/>
          <p:cNvSpPr/>
          <p:nvPr/>
        </p:nvSpPr>
        <p:spPr>
          <a:xfrm rot="-600">
            <a:off x="8301882" y="2918371"/>
            <a:ext cx="2421844" cy="286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Unified platform connecting all facilities and departments</a:t>
            </a:r>
            <a:endParaRPr lang="en-US" sz="1125" dirty="0"/>
          </a:p>
        </p:txBody>
      </p:sp>
      <p:sp>
        <p:nvSpPr>
          <p:cNvPr id="30" name="Real-time execution ensures product safety and reduces patient exposure"/>
          <p:cNvSpPr/>
          <p:nvPr/>
        </p:nvSpPr>
        <p:spPr>
          <a:xfrm rot="-600">
            <a:off x="8302219" y="4847485"/>
            <a:ext cx="2421877" cy="4766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Real-time execution ensures product safety and reduces patient exposure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84866" cy="6850603"/>
          </a:xfrm>
          <a:prstGeom prst="rect">
            <a:avLst/>
          </a:prstGeom>
        </p:spPr>
      </p:pic>
      <p:pic>
        <p:nvPicPr>
          <p:cNvPr id="4" name="Layer_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801201" cy="2345371"/>
          </a:xfrm>
          <a:prstGeom prst="rect">
            <a:avLst/>
          </a:prstGeom>
        </p:spPr>
      </p:pic>
      <p:pic>
        <p:nvPicPr>
          <p:cNvPr id="5" name="Layer_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9373363" y="4346779"/>
            <a:ext cx="2819834" cy="2513349"/>
          </a:xfrm>
          <a:prstGeom prst="rect">
            <a:avLst/>
          </a:prstGeom>
        </p:spPr>
      </p:pic>
      <p:pic>
        <p:nvPicPr>
          <p:cNvPr id="6" name="Rectangl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1381362" y="1364937"/>
            <a:ext cx="3334348" cy="1715664"/>
          </a:xfrm>
          <a:prstGeom prst="rect">
            <a:avLst/>
          </a:prstGeom>
        </p:spPr>
      </p:pic>
      <p:pic>
        <p:nvPicPr>
          <p:cNvPr id="7" name="Ellips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525814" y="1510565"/>
            <a:ext cx="676511" cy="676511"/>
          </a:xfrm>
          <a:prstGeom prst="rect">
            <a:avLst/>
          </a:prstGeom>
        </p:spPr>
      </p:pic>
      <p:pic>
        <p:nvPicPr>
          <p:cNvPr id="8" name="Group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695143" y="1707309"/>
            <a:ext cx="333478" cy="295391"/>
          </a:xfrm>
          <a:prstGeom prst="rect">
            <a:avLst/>
          </a:prstGeom>
        </p:spPr>
      </p:pic>
      <p:pic>
        <p:nvPicPr>
          <p:cNvPr id="9" name="Ellips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551273" y="1536035"/>
            <a:ext cx="623888" cy="623888"/>
          </a:xfrm>
          <a:prstGeom prst="rect">
            <a:avLst/>
          </a:prstGeom>
        </p:spPr>
      </p:pic>
      <p:pic>
        <p:nvPicPr>
          <p:cNvPr id="10" name="Ellipse 1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11" name="Rectangle 6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4429613" y="2793155"/>
            <a:ext cx="3334348" cy="1715664"/>
          </a:xfrm>
          <a:prstGeom prst="rect">
            <a:avLst/>
          </a:prstGeom>
        </p:spPr>
      </p:pic>
      <p:pic>
        <p:nvPicPr>
          <p:cNvPr id="12" name="Ellipse 14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575251" y="2936932"/>
            <a:ext cx="676511" cy="676511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4767723" y="3126242"/>
            <a:ext cx="285853" cy="295375"/>
          </a:xfrm>
          <a:prstGeom prst="rect">
            <a:avLst/>
          </a:prstGeom>
        </p:spPr>
      </p:pic>
      <p:pic>
        <p:nvPicPr>
          <p:cNvPr id="14" name="Ellipse 15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00710" y="2962402"/>
            <a:ext cx="623888" cy="623888"/>
          </a:xfrm>
          <a:prstGeom prst="rect">
            <a:avLst/>
          </a:prstGeom>
        </p:spPr>
      </p:pic>
      <p:pic>
        <p:nvPicPr>
          <p:cNvPr id="15" name="Rectangle 7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477860" y="4221374"/>
            <a:ext cx="3334348" cy="1715664"/>
          </a:xfrm>
          <a:prstGeom prst="rect">
            <a:avLst/>
          </a:prstGeom>
        </p:spPr>
      </p:pic>
      <p:pic>
        <p:nvPicPr>
          <p:cNvPr id="16" name="Rectangle 9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7477362" y="1363873"/>
            <a:ext cx="3334348" cy="1715664"/>
          </a:xfrm>
          <a:prstGeom prst="rect">
            <a:avLst/>
          </a:prstGeom>
        </p:spPr>
      </p:pic>
      <p:pic>
        <p:nvPicPr>
          <p:cNvPr id="17" name="Rectangle 8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1381860" y="4222437"/>
            <a:ext cx="3334348" cy="1715664"/>
          </a:xfrm>
          <a:prstGeom prst="rect">
            <a:avLst/>
          </a:prstGeom>
        </p:spPr>
      </p:pic>
      <p:pic>
        <p:nvPicPr>
          <p:cNvPr id="18" name="Ellipse 10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1526311" y="4369757"/>
            <a:ext cx="676511" cy="676511"/>
          </a:xfrm>
          <a:prstGeom prst="rect">
            <a:avLst/>
          </a:prstGeom>
        </p:spPr>
      </p:pic>
      <p:pic>
        <p:nvPicPr>
          <p:cNvPr id="19" name="Group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1709524" y="4556517"/>
            <a:ext cx="295378" cy="295378"/>
          </a:xfrm>
          <a:prstGeom prst="rect">
            <a:avLst/>
          </a:prstGeom>
        </p:spPr>
      </p:pic>
      <p:pic>
        <p:nvPicPr>
          <p:cNvPr id="20" name="Ellipse 8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625790" y="1509500"/>
            <a:ext cx="676511" cy="676511"/>
          </a:xfrm>
          <a:prstGeom prst="rect">
            <a:avLst/>
          </a:prstGeom>
        </p:spPr>
      </p:pic>
      <p:pic>
        <p:nvPicPr>
          <p:cNvPr id="21" name="Group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814081" y="1702653"/>
            <a:ext cx="295375" cy="285853"/>
          </a:xfrm>
          <a:prstGeom prst="rect">
            <a:avLst/>
          </a:prstGeom>
        </p:spPr>
      </p:pic>
      <p:pic>
        <p:nvPicPr>
          <p:cNvPr id="22" name="Ellipse 11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7626288" y="4368692"/>
            <a:ext cx="676511" cy="676511"/>
          </a:xfrm>
          <a:prstGeom prst="rect">
            <a:avLst/>
          </a:prstGeom>
        </p:spPr>
      </p:pic>
      <p:pic>
        <p:nvPicPr>
          <p:cNvPr id="23" name="Group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7784004" y="4543825"/>
            <a:ext cx="362063" cy="323976"/>
          </a:xfrm>
          <a:prstGeom prst="rect">
            <a:avLst/>
          </a:prstGeom>
        </p:spPr>
      </p:pic>
      <p:pic>
        <p:nvPicPr>
          <p:cNvPr id="24" name="Ellipse 12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551770" y="4395225"/>
            <a:ext cx="623888" cy="623888"/>
          </a:xfrm>
          <a:prstGeom prst="rect">
            <a:avLst/>
          </a:prstGeom>
        </p:spPr>
      </p:pic>
      <p:pic>
        <p:nvPicPr>
          <p:cNvPr id="25" name="Ellipse 9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7651249" y="1534970"/>
            <a:ext cx="623888" cy="623888"/>
          </a:xfrm>
          <a:prstGeom prst="rect">
            <a:avLst/>
          </a:prstGeom>
        </p:spPr>
      </p:pic>
      <p:pic>
        <p:nvPicPr>
          <p:cNvPr id="26" name="Ellipse 13" descr="preencoded.png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7651747" y="4394160"/>
            <a:ext cx="623888" cy="623888"/>
          </a:xfrm>
          <a:prstGeom prst="rect">
            <a:avLst/>
          </a:prstGeom>
        </p:spPr>
      </p:pic>
      <p:sp>
        <p:nvSpPr>
          <p:cNvPr id="27" name="FDA Matching"/>
          <p:cNvSpPr/>
          <p:nvPr/>
        </p:nvSpPr>
        <p:spPr>
          <a:xfrm rot="-600">
            <a:off x="2296567" y="1780106"/>
            <a:ext cx="1504973" cy="1336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FDA MATCHING</a:t>
            </a:r>
            <a:endParaRPr lang="en-US" sz="1500" dirty="0"/>
          </a:p>
        </p:txBody>
      </p:sp>
      <p:sp>
        <p:nvSpPr>
          <p:cNvPr id="28" name="name_05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29" name="Streamline"/>
          <p:cNvSpPr/>
          <p:nvPr/>
        </p:nvSpPr>
        <p:spPr>
          <a:xfrm rot="-600">
            <a:off x="4586385" y="572301"/>
            <a:ext cx="3133788" cy="362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STREAMLINE</a:t>
            </a:r>
            <a:endParaRPr lang="en-US" sz="4050" dirty="0"/>
          </a:p>
        </p:txBody>
      </p:sp>
      <p:sp>
        <p:nvSpPr>
          <p:cNvPr id="30" name="Custom Escalations"/>
          <p:cNvSpPr/>
          <p:nvPr/>
        </p:nvSpPr>
        <p:spPr>
          <a:xfrm rot="-600">
            <a:off x="5344083" y="3206351"/>
            <a:ext cx="2228873" cy="1337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CUSTOM ESCALATIONS</a:t>
            </a:r>
            <a:endParaRPr lang="en-US" sz="1500" dirty="0"/>
          </a:p>
        </p:txBody>
      </p:sp>
      <p:sp>
        <p:nvSpPr>
          <p:cNvPr id="31" name="AI-Driven reports"/>
          <p:cNvSpPr/>
          <p:nvPr/>
        </p:nvSpPr>
        <p:spPr>
          <a:xfrm rot="-600">
            <a:off x="2297064" y="4639225"/>
            <a:ext cx="1914548" cy="1336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AI-DRIVEN REPORTS</a:t>
            </a:r>
            <a:endParaRPr lang="en-US" sz="1500" dirty="0"/>
          </a:p>
        </p:txBody>
      </p:sp>
      <p:sp>
        <p:nvSpPr>
          <p:cNvPr id="32" name="Processing Speed"/>
          <p:cNvSpPr/>
          <p:nvPr/>
        </p:nvSpPr>
        <p:spPr>
          <a:xfrm rot="-600">
            <a:off x="8398004" y="4638166"/>
            <a:ext cx="1876448" cy="1336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PROCESSING SPEED</a:t>
            </a:r>
            <a:endParaRPr lang="en-US" sz="1500" dirty="0"/>
          </a:p>
        </p:txBody>
      </p:sp>
      <p:sp>
        <p:nvSpPr>
          <p:cNvPr id="33" name="Non-FDA Screening"/>
          <p:cNvSpPr/>
          <p:nvPr/>
        </p:nvSpPr>
        <p:spPr>
          <a:xfrm rot="-600">
            <a:off x="8397506" y="1778944"/>
            <a:ext cx="2085998" cy="133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NON-FDA SCREENING</a:t>
            </a:r>
            <a:endParaRPr lang="en-US" sz="1500" dirty="0"/>
          </a:p>
        </p:txBody>
      </p:sp>
      <p:sp>
        <p:nvSpPr>
          <p:cNvPr id="34" name="Automated FDA recall matching against purchase and inventory data"/>
          <p:cNvSpPr/>
          <p:nvPr/>
        </p:nvSpPr>
        <p:spPr>
          <a:xfrm rot="-600">
            <a:off x="1525963" y="2379135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Automated FDA recall matching against purchase and inventory data</a:t>
            </a:r>
            <a:endParaRPr lang="en-US" sz="1125" dirty="0"/>
          </a:p>
        </p:txBody>
      </p:sp>
      <p:sp>
        <p:nvSpPr>
          <p:cNvPr id="35" name="AI-driven reports from top-level insight to granular detail"/>
          <p:cNvSpPr/>
          <p:nvPr/>
        </p:nvSpPr>
        <p:spPr>
          <a:xfrm rot="-600">
            <a:off x="1526460" y="523272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AI-driven reports from top-level insight to granular detail</a:t>
            </a:r>
            <a:endParaRPr lang="en-US" sz="1125" dirty="0"/>
          </a:p>
        </p:txBody>
      </p:sp>
      <p:sp>
        <p:nvSpPr>
          <p:cNvPr id="36" name="Recall processing time reduced by 95"/>
          <p:cNvSpPr/>
          <p:nvPr/>
        </p:nvSpPr>
        <p:spPr>
          <a:xfrm rot="-600">
            <a:off x="7626437" y="5231745"/>
            <a:ext cx="2408796" cy="2861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processing time reduced by 95%</a:t>
            </a:r>
            <a:endParaRPr lang="en-US" sz="1125" dirty="0"/>
          </a:p>
        </p:txBody>
      </p:sp>
      <p:sp>
        <p:nvSpPr>
          <p:cNvPr id="37" name="Custom escalation paths department mapping and integrations"/>
          <p:cNvSpPr/>
          <p:nvPr/>
        </p:nvSpPr>
        <p:spPr>
          <a:xfrm rot="-600">
            <a:off x="4575404" y="3799896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Custom escalation paths, department mapping, and integrations</a:t>
            </a:r>
            <a:endParaRPr lang="en-US" sz="1125" dirty="0"/>
          </a:p>
        </p:txBody>
      </p:sp>
      <p:sp>
        <p:nvSpPr>
          <p:cNvPr id="38" name="Easy upload and screening for non-FDA recalls"/>
          <p:cNvSpPr/>
          <p:nvPr/>
        </p:nvSpPr>
        <p:spPr>
          <a:xfrm rot="-600">
            <a:off x="7625944" y="2378070"/>
            <a:ext cx="292267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Easy upload and screening for non-FDA recalls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6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image 1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4" name="Ellipse 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3011278"/>
            <a:ext cx="3855300" cy="3848850"/>
          </a:xfrm>
          <a:prstGeom prst="rect">
            <a:avLst/>
          </a:prstGeom>
        </p:spPr>
      </p:pic>
      <p:pic>
        <p:nvPicPr>
          <p:cNvPr id="5" name="Ellips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3471007" y="2117360"/>
            <a:ext cx="676511" cy="676511"/>
          </a:xfrm>
          <a:prstGeom prst="rect">
            <a:avLst/>
          </a:prstGeom>
        </p:spPr>
      </p:pic>
      <p:pic>
        <p:nvPicPr>
          <p:cNvPr id="6" name="Ellips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3496470" y="2142830"/>
            <a:ext cx="623888" cy="623888"/>
          </a:xfrm>
          <a:prstGeom prst="rect">
            <a:avLst/>
          </a:prstGeom>
        </p:spPr>
      </p:pic>
      <p:pic>
        <p:nvPicPr>
          <p:cNvPr id="7" name="Ellipse 10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3471397" y="4355656"/>
            <a:ext cx="676511" cy="676511"/>
          </a:xfrm>
          <a:prstGeom prst="rect">
            <a:avLst/>
          </a:prstGeom>
        </p:spPr>
      </p:pic>
      <p:pic>
        <p:nvPicPr>
          <p:cNvPr id="8" name="Group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3646768" y="4544229"/>
            <a:ext cx="323953" cy="295388"/>
          </a:xfrm>
          <a:prstGeom prst="rect">
            <a:avLst/>
          </a:prstGeom>
        </p:spPr>
      </p:pic>
      <p:pic>
        <p:nvPicPr>
          <p:cNvPr id="9" name="Ellips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3496861" y="4381123"/>
            <a:ext cx="623888" cy="623888"/>
          </a:xfrm>
          <a:prstGeom prst="rect">
            <a:avLst/>
          </a:prstGeom>
        </p:spPr>
      </p:pic>
      <p:pic>
        <p:nvPicPr>
          <p:cNvPr id="10" name="Ellips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8048992" y="2116561"/>
            <a:ext cx="676511" cy="676511"/>
          </a:xfrm>
          <a:prstGeom prst="rect">
            <a:avLst/>
          </a:prstGeom>
        </p:spPr>
      </p:pic>
      <p:pic>
        <p:nvPicPr>
          <p:cNvPr id="11" name="Group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8235376" y="2303007"/>
            <a:ext cx="300142" cy="300142"/>
          </a:xfrm>
          <a:prstGeom prst="rect">
            <a:avLst/>
          </a:prstGeom>
        </p:spPr>
      </p:pic>
      <p:pic>
        <p:nvPicPr>
          <p:cNvPr id="12" name="Ellipse 11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8045848" y="4351433"/>
            <a:ext cx="676393" cy="676393"/>
          </a:xfrm>
          <a:prstGeom prst="rect">
            <a:avLst/>
          </a:prstGeom>
        </p:spPr>
      </p:pic>
      <p:pic>
        <p:nvPicPr>
          <p:cNvPr id="13" name="Group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243674" y="4534697"/>
            <a:ext cx="295385" cy="314428"/>
          </a:xfrm>
          <a:prstGeom prst="rect">
            <a:avLst/>
          </a:prstGeom>
        </p:spPr>
      </p:pic>
      <p:pic>
        <p:nvPicPr>
          <p:cNvPr id="14" name="Ellipse 14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4638280" y="2102096"/>
            <a:ext cx="2915667" cy="2915667"/>
          </a:xfrm>
          <a:prstGeom prst="rect">
            <a:avLst/>
          </a:prstGeom>
        </p:spPr>
      </p:pic>
      <p:pic>
        <p:nvPicPr>
          <p:cNvPr id="15" name="Frame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5420227" y="2884318"/>
            <a:ext cx="1353022" cy="1353022"/>
          </a:xfrm>
          <a:prstGeom prst="rect">
            <a:avLst/>
          </a:prstGeom>
        </p:spPr>
      </p:pic>
      <p:pic>
        <p:nvPicPr>
          <p:cNvPr id="16" name="Ellipse 15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4762919" y="2226785"/>
            <a:ext cx="2671800" cy="2671800"/>
          </a:xfrm>
          <a:prstGeom prst="rect">
            <a:avLst/>
          </a:prstGeom>
        </p:spPr>
      </p:pic>
      <p:pic>
        <p:nvPicPr>
          <p:cNvPr id="17" name="Vector 1" descr="preencoded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4138319" y="2437119"/>
            <a:ext cx="609558" cy="649905"/>
          </a:xfrm>
          <a:prstGeom prst="rect">
            <a:avLst/>
          </a:prstGeom>
        </p:spPr>
      </p:pic>
      <p:pic>
        <p:nvPicPr>
          <p:cNvPr id="18" name="Vector 3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4138487" y="4036393"/>
            <a:ext cx="609330" cy="650158"/>
          </a:xfrm>
          <a:prstGeom prst="rect">
            <a:avLst/>
          </a:prstGeom>
        </p:spPr>
      </p:pic>
      <p:pic>
        <p:nvPicPr>
          <p:cNvPr id="19" name="Vector 2" descr="preencoded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7449796" y="2446117"/>
            <a:ext cx="609330" cy="650056"/>
          </a:xfrm>
          <a:prstGeom prst="rect">
            <a:avLst/>
          </a:prstGeom>
        </p:spPr>
      </p:pic>
      <p:pic>
        <p:nvPicPr>
          <p:cNvPr id="20" name="Vector 4" descr="preencoded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7449959" y="4036019"/>
            <a:ext cx="609442" cy="649928"/>
          </a:xfrm>
          <a:prstGeom prst="rect">
            <a:avLst/>
          </a:prstGeom>
        </p:spPr>
      </p:pic>
      <p:pic>
        <p:nvPicPr>
          <p:cNvPr id="21" name="Ellipse 9" descr="preencoded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8074456" y="2142031"/>
            <a:ext cx="623888" cy="623888"/>
          </a:xfrm>
          <a:prstGeom prst="rect">
            <a:avLst/>
          </a:prstGeom>
        </p:spPr>
      </p:pic>
      <p:pic>
        <p:nvPicPr>
          <p:cNvPr id="22" name="Ellipse 13" descr="preencoded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8072944" y="4378533"/>
            <a:ext cx="623888" cy="623888"/>
          </a:xfrm>
          <a:prstGeom prst="rect">
            <a:avLst/>
          </a:prstGeom>
        </p:spPr>
      </p:pic>
      <p:pic>
        <p:nvPicPr>
          <p:cNvPr id="23" name="Layer_1" descr="preencoded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372474" cy="2050104"/>
          </a:xfrm>
          <a:prstGeom prst="rect">
            <a:avLst/>
          </a:prstGeom>
        </p:spPr>
      </p:pic>
      <p:pic>
        <p:nvPicPr>
          <p:cNvPr id="24" name="Layer_1" descr="preencoded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9820247" y="0"/>
            <a:ext cx="2372950" cy="2048289"/>
          </a:xfrm>
          <a:prstGeom prst="rect">
            <a:avLst/>
          </a:prstGeom>
        </p:spPr>
      </p:pic>
      <p:pic>
        <p:nvPicPr>
          <p:cNvPr id="25" name="Group" descr="preencoded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3641257" y="2306245"/>
            <a:ext cx="295378" cy="295378"/>
          </a:xfrm>
          <a:prstGeom prst="rect">
            <a:avLst/>
          </a:prstGeom>
        </p:spPr>
      </p:pic>
      <p:sp>
        <p:nvSpPr>
          <p:cNvPr id="26" name="name_06"/>
          <p:cNvSpPr/>
          <p:nvPr/>
        </p:nvSpPr>
        <p:spPr>
          <a:xfrm rot="-600">
            <a:off x="11223729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06</a:t>
            </a:r>
            <a:endParaRPr lang="en-US" sz="1350" dirty="0"/>
          </a:p>
        </p:txBody>
      </p:sp>
      <p:sp>
        <p:nvSpPr>
          <p:cNvPr id="27" name="Results  ROI"/>
          <p:cNvSpPr/>
          <p:nvPr/>
        </p:nvSpPr>
        <p:spPr>
          <a:xfrm rot="-600">
            <a:off x="4286455" y="1164896"/>
            <a:ext cx="3743388" cy="3625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RESULTS &amp;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ROI</a:t>
            </a:r>
            <a:endParaRPr lang="en-US" sz="4050" dirty="0"/>
          </a:p>
        </p:txBody>
      </p:sp>
      <p:sp>
        <p:nvSpPr>
          <p:cNvPr id="28" name="reporting"/>
          <p:cNvSpPr/>
          <p:nvPr/>
        </p:nvSpPr>
        <p:spPr>
          <a:xfrm rot="-600">
            <a:off x="2283372" y="2387312"/>
            <a:ext cx="1095398" cy="1335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29" name="exposure risk"/>
          <p:cNvSpPr/>
          <p:nvPr/>
        </p:nvSpPr>
        <p:spPr>
          <a:xfrm rot="-600">
            <a:off x="1912288" y="4625605"/>
            <a:ext cx="1476398" cy="133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EXPOSURE RISK</a:t>
            </a:r>
            <a:endParaRPr lang="en-US" sz="1500" dirty="0"/>
          </a:p>
        </p:txBody>
      </p:sp>
      <p:sp>
        <p:nvSpPr>
          <p:cNvPr id="30" name="Centralized dashboard and reporting for full oversight"/>
          <p:cNvSpPr/>
          <p:nvPr/>
        </p:nvSpPr>
        <p:spPr>
          <a:xfrm rot="-600">
            <a:off x="1200150" y="2986320"/>
            <a:ext cx="2941726" cy="2862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Centralized dashboard and reporting for full oversight</a:t>
            </a:r>
            <a:endParaRPr lang="en-US" sz="1125" dirty="0"/>
          </a:p>
        </p:txBody>
      </p:sp>
      <p:sp>
        <p:nvSpPr>
          <p:cNvPr id="31" name="Cuts costs by reducing recall labor and exposure risk"/>
          <p:cNvSpPr/>
          <p:nvPr/>
        </p:nvSpPr>
        <p:spPr>
          <a:xfrm rot="-600">
            <a:off x="1219200" y="5219007"/>
            <a:ext cx="2922709" cy="4767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Cuts costs by reducing recall labor and exposure risk</a:t>
            </a:r>
            <a:b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125" dirty="0"/>
          </a:p>
        </p:txBody>
      </p:sp>
      <p:sp>
        <p:nvSpPr>
          <p:cNvPr id="32" name="reputation"/>
          <p:cNvSpPr/>
          <p:nvPr/>
        </p:nvSpPr>
        <p:spPr>
          <a:xfrm rot="-600">
            <a:off x="8821103" y="4624445"/>
            <a:ext cx="1200173" cy="1335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REPUTATION</a:t>
            </a:r>
            <a:endParaRPr lang="en-US" sz="1500" dirty="0"/>
          </a:p>
        </p:txBody>
      </p:sp>
      <p:sp>
        <p:nvSpPr>
          <p:cNvPr id="33" name="identification"/>
          <p:cNvSpPr/>
          <p:nvPr/>
        </p:nvSpPr>
        <p:spPr>
          <a:xfrm rot="-600">
            <a:off x="8820713" y="2386100"/>
            <a:ext cx="1514498" cy="133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IDENTIFICATION</a:t>
            </a:r>
            <a:endParaRPr lang="en-US" sz="1500" dirty="0"/>
          </a:p>
        </p:txBody>
      </p:sp>
      <p:sp>
        <p:nvSpPr>
          <p:cNvPr id="34" name="Protects brand reputation and saves lives"/>
          <p:cNvSpPr/>
          <p:nvPr/>
        </p:nvSpPr>
        <p:spPr>
          <a:xfrm rot="-600">
            <a:off x="8049537" y="5217909"/>
            <a:ext cx="2408829" cy="4766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Protects brand reputation and saves lives
</a:t>
            </a:r>
            <a:endParaRPr lang="en-US" sz="1125" dirty="0"/>
          </a:p>
        </p:txBody>
      </p:sp>
      <p:sp>
        <p:nvSpPr>
          <p:cNvPr id="35" name="Saves time by accelerating identification and removal of harmful products"/>
          <p:cNvSpPr/>
          <p:nvPr/>
        </p:nvSpPr>
        <p:spPr>
          <a:xfrm rot="-600">
            <a:off x="8049146" y="2985132"/>
            <a:ext cx="2922709" cy="4767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Saves time by accelerating identification and removal of harmful products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all Wire - Pitch Deck - Slide 07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3197" cy="6860128"/>
          </a:xfrm>
          <a:prstGeom prst="rect">
            <a:avLst/>
          </a:prstGeom>
        </p:spPr>
      </p:pic>
      <p:pic>
        <p:nvPicPr>
          <p:cNvPr id="3" name="Layer_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0" y="4163409"/>
            <a:ext cx="2992516" cy="2696719"/>
          </a:xfrm>
          <a:prstGeom prst="rect">
            <a:avLst/>
          </a:prstGeom>
        </p:spPr>
      </p:pic>
      <p:pic>
        <p:nvPicPr>
          <p:cNvPr id="4" name="Layer_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0248900" y="0"/>
            <a:ext cx="1944297" cy="1905338"/>
          </a:xfrm>
          <a:prstGeom prst="rect">
            <a:avLst/>
          </a:prstGeom>
        </p:spPr>
      </p:pic>
      <p:pic>
        <p:nvPicPr>
          <p:cNvPr id="5" name="Ellipse 1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88043" y="3009159"/>
            <a:ext cx="3905154" cy="3850968"/>
          </a:xfrm>
          <a:prstGeom prst="rect">
            <a:avLst/>
          </a:prstGeom>
        </p:spPr>
      </p:pic>
      <p:pic>
        <p:nvPicPr>
          <p:cNvPr id="6" name="Rectangle 10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905191" y="1800205"/>
            <a:ext cx="3334415" cy="1906164"/>
          </a:xfrm>
          <a:prstGeom prst="rect">
            <a:avLst/>
          </a:prstGeom>
        </p:spPr>
      </p:pic>
      <p:pic>
        <p:nvPicPr>
          <p:cNvPr id="7" name="Ellips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1049643" y="1945833"/>
            <a:ext cx="676511" cy="676511"/>
          </a:xfrm>
          <a:prstGeom prst="rect">
            <a:avLst/>
          </a:prstGeom>
        </p:spPr>
      </p:pic>
      <p:pic>
        <p:nvPicPr>
          <p:cNvPr id="8" name="Frame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238622" y="2135402"/>
            <a:ext cx="314437" cy="314435"/>
          </a:xfrm>
          <a:prstGeom prst="rect">
            <a:avLst/>
          </a:prstGeom>
        </p:spPr>
      </p:pic>
      <p:pic>
        <p:nvPicPr>
          <p:cNvPr id="9" name="Ellips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075102" y="1971304"/>
            <a:ext cx="623883" cy="623888"/>
          </a:xfrm>
          <a:prstGeom prst="rect">
            <a:avLst/>
          </a:prstGeom>
        </p:spPr>
      </p:pic>
      <p:pic>
        <p:nvPicPr>
          <p:cNvPr id="10" name="Rectangle 1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4429441" y="1799590"/>
            <a:ext cx="3334415" cy="1906164"/>
          </a:xfrm>
          <a:prstGeom prst="rect">
            <a:avLst/>
          </a:prstGeom>
        </p:spPr>
      </p:pic>
      <p:pic>
        <p:nvPicPr>
          <p:cNvPr id="11" name="Ellipse 3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4573888" y="1945218"/>
            <a:ext cx="676511" cy="676511"/>
          </a:xfrm>
          <a:prstGeom prst="rect">
            <a:avLst/>
          </a:prstGeom>
        </p:spPr>
      </p:pic>
      <p:pic>
        <p:nvPicPr>
          <p:cNvPr id="12" name="Group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4787698" y="2128453"/>
            <a:ext cx="247756" cy="304886"/>
          </a:xfrm>
          <a:prstGeom prst="rect">
            <a:avLst/>
          </a:prstGeom>
        </p:spPr>
      </p:pic>
      <p:pic>
        <p:nvPicPr>
          <p:cNvPr id="13" name="Ellipse 7" descr="preencoded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4599347" y="1970689"/>
            <a:ext cx="623888" cy="623888"/>
          </a:xfrm>
          <a:prstGeom prst="rect">
            <a:avLst/>
          </a:prstGeom>
        </p:spPr>
      </p:pic>
      <p:pic>
        <p:nvPicPr>
          <p:cNvPr id="14" name="Rectangle 10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7953691" y="1798975"/>
            <a:ext cx="3334415" cy="1906164"/>
          </a:xfrm>
          <a:prstGeom prst="rect">
            <a:avLst/>
          </a:prstGeom>
        </p:spPr>
      </p:pic>
      <p:pic>
        <p:nvPicPr>
          <p:cNvPr id="15" name="Ellipse 3" descr="preencoded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098138" y="1944603"/>
            <a:ext cx="676511" cy="676511"/>
          </a:xfrm>
          <a:prstGeom prst="rect">
            <a:avLst/>
          </a:prstGeom>
        </p:spPr>
      </p:pic>
      <p:pic>
        <p:nvPicPr>
          <p:cNvPr id="16" name="Group" descr="preencoded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8266947" y="2126511"/>
            <a:ext cx="333481" cy="304916"/>
          </a:xfrm>
          <a:prstGeom prst="rect">
            <a:avLst/>
          </a:prstGeom>
        </p:spPr>
      </p:pic>
      <p:pic>
        <p:nvPicPr>
          <p:cNvPr id="17" name="Ellipse 7" descr="preencoded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8123597" y="1970074"/>
            <a:ext cx="623888" cy="623888"/>
          </a:xfrm>
          <a:prstGeom prst="rect">
            <a:avLst/>
          </a:prstGeom>
        </p:spPr>
      </p:pic>
      <p:pic>
        <p:nvPicPr>
          <p:cNvPr id="18" name="Rectangle 10" descr="preencode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905554" y="3899496"/>
            <a:ext cx="3334415" cy="1906164"/>
          </a:xfrm>
          <a:prstGeom prst="rect">
            <a:avLst/>
          </a:prstGeom>
        </p:spPr>
      </p:pic>
      <p:pic>
        <p:nvPicPr>
          <p:cNvPr id="19" name="Ellipse 3" descr="preencoded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1050006" y="4045124"/>
            <a:ext cx="676511" cy="676511"/>
          </a:xfrm>
          <a:prstGeom prst="rect">
            <a:avLst/>
          </a:prstGeom>
        </p:spPr>
      </p:pic>
      <p:pic>
        <p:nvPicPr>
          <p:cNvPr id="20" name="Group" descr="preencoded.png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1253147" y="4221582"/>
            <a:ext cx="266800" cy="285843"/>
          </a:xfrm>
          <a:prstGeom prst="rect">
            <a:avLst/>
          </a:prstGeom>
        </p:spPr>
      </p:pic>
      <p:pic>
        <p:nvPicPr>
          <p:cNvPr id="21" name="Ellipse 7" descr="preencoded.png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>
          <a:xfrm>
            <a:off x="1075469" y="4070596"/>
            <a:ext cx="623888" cy="623888"/>
          </a:xfrm>
          <a:prstGeom prst="rect">
            <a:avLst/>
          </a:prstGeom>
        </p:spPr>
      </p:pic>
      <p:pic>
        <p:nvPicPr>
          <p:cNvPr id="22" name="Rectangle 10" descr="preencoded.png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4429804" y="3898883"/>
            <a:ext cx="3334415" cy="1906164"/>
          </a:xfrm>
          <a:prstGeom prst="rect">
            <a:avLst/>
          </a:prstGeom>
        </p:spPr>
      </p:pic>
      <p:pic>
        <p:nvPicPr>
          <p:cNvPr id="23" name="Ellipse 3" descr="preencoded.png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4574260" y="4044510"/>
            <a:ext cx="676511" cy="676511"/>
          </a:xfrm>
          <a:prstGeom prst="rect">
            <a:avLst/>
          </a:prstGeom>
        </p:spPr>
      </p:pic>
      <p:pic>
        <p:nvPicPr>
          <p:cNvPr id="24" name="Group" descr="preencoded.png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>
          <a:xfrm>
            <a:off x="4760640" y="4230959"/>
            <a:ext cx="300142" cy="300142"/>
          </a:xfrm>
          <a:prstGeom prst="rect">
            <a:avLst/>
          </a:prstGeom>
        </p:spPr>
      </p:pic>
      <p:pic>
        <p:nvPicPr>
          <p:cNvPr id="25" name="Ellipse 7" descr="preencoded.png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>
          <a:xfrm>
            <a:off x="4599710" y="4069980"/>
            <a:ext cx="623888" cy="623888"/>
          </a:xfrm>
          <a:prstGeom prst="rect">
            <a:avLst/>
          </a:prstGeom>
        </p:spPr>
      </p:pic>
      <p:pic>
        <p:nvPicPr>
          <p:cNvPr id="26" name="Rectangle 10" descr="preencoded.png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7954054" y="3898266"/>
            <a:ext cx="3334415" cy="1906164"/>
          </a:xfrm>
          <a:prstGeom prst="rect">
            <a:avLst/>
          </a:prstGeom>
        </p:spPr>
      </p:pic>
      <p:pic>
        <p:nvPicPr>
          <p:cNvPr id="27" name="Ellipse 3" descr="preencoded.png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>
          <a:xfrm>
            <a:off x="8098510" y="4043893"/>
            <a:ext cx="676511" cy="676511"/>
          </a:xfrm>
          <a:prstGeom prst="rect">
            <a:avLst/>
          </a:prstGeom>
        </p:spPr>
      </p:pic>
      <p:pic>
        <p:nvPicPr>
          <p:cNvPr id="28" name="Group" descr="preencoded.png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8277960" y="4220762"/>
            <a:ext cx="314435" cy="314435"/>
          </a:xfrm>
          <a:prstGeom prst="rect">
            <a:avLst/>
          </a:prstGeom>
        </p:spPr>
      </p:pic>
      <p:pic>
        <p:nvPicPr>
          <p:cNvPr id="29" name="Ellipse 7" descr="preencoded.png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>
          <a:xfrm>
            <a:off x="8123960" y="4069366"/>
            <a:ext cx="623888" cy="623888"/>
          </a:xfrm>
          <a:prstGeom prst="rect">
            <a:avLst/>
          </a:prstGeom>
        </p:spPr>
      </p:pic>
      <p:sp>
        <p:nvSpPr>
          <p:cNvPr id="30" name="name_05"/>
          <p:cNvSpPr/>
          <p:nvPr/>
        </p:nvSpPr>
        <p:spPr>
          <a:xfrm rot="-600">
            <a:off x="11223734" y="6162807"/>
            <a:ext cx="247672" cy="123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05</a:t>
            </a:r>
            <a:endParaRPr lang="en-US" sz="1350" dirty="0"/>
          </a:p>
        </p:txBody>
      </p:sp>
      <p:sp>
        <p:nvSpPr>
          <p:cNvPr id="31" name="On The Horizon New Features"/>
          <p:cNvSpPr/>
          <p:nvPr/>
        </p:nvSpPr>
        <p:spPr>
          <a:xfrm rot="-600">
            <a:off x="1971842" y="959404"/>
            <a:ext cx="8524938" cy="363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 THE </a:t>
            </a:r>
            <a:r>
              <a:rPr lang="en-US" sz="40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HORIZON:</a:t>
            </a:r>
            <a:r>
              <a:rPr lang="en-US" sz="405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NEW FEATURES</a:t>
            </a:r>
            <a:endParaRPr lang="en-US" sz="4050" dirty="0"/>
          </a:p>
        </p:txBody>
      </p:sp>
      <p:sp>
        <p:nvSpPr>
          <p:cNvPr id="32" name="Communication Tools"/>
          <p:cNvSpPr/>
          <p:nvPr/>
        </p:nvSpPr>
        <p:spPr>
          <a:xfrm rot="-600">
            <a:off x="1820373" y="2086683"/>
            <a:ext cx="2107716" cy="390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COMMUNICATION TOOLS</a:t>
            </a:r>
            <a:endParaRPr lang="en-US" sz="1650" dirty="0"/>
          </a:p>
        </p:txBody>
      </p:sp>
      <p:sp>
        <p:nvSpPr>
          <p:cNvPr id="33" name="Internal and external communication tools automated or manual"/>
          <p:cNvSpPr/>
          <p:nvPr/>
        </p:nvSpPr>
        <p:spPr>
          <a:xfrm rot="-600">
            <a:off x="1049796" y="2814388"/>
            <a:ext cx="3009478" cy="6196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Internal and external communication tools (automated or manual)</a:t>
            </a:r>
            <a:endParaRPr lang="en-US" sz="1350" dirty="0"/>
          </a:p>
        </p:txBody>
      </p:sp>
      <p:sp>
        <p:nvSpPr>
          <p:cNvPr id="34" name="PDF Response Forms"/>
          <p:cNvSpPr/>
          <p:nvPr/>
        </p:nvSpPr>
        <p:spPr>
          <a:xfrm rot="-600">
            <a:off x="5344623" y="2086146"/>
            <a:ext cx="1655651" cy="3908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PDF RESPONSE FORMS</a:t>
            </a:r>
            <a:endParaRPr lang="en-US" sz="1650" dirty="0"/>
          </a:p>
        </p:txBody>
      </p:sp>
      <p:sp>
        <p:nvSpPr>
          <p:cNvPr id="35" name="Auto-generated PDF recall response forms"/>
          <p:cNvSpPr/>
          <p:nvPr/>
        </p:nvSpPr>
        <p:spPr>
          <a:xfrm rot="-600">
            <a:off x="4574046" y="2813788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Auto-generated PDF recall response forms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36" name="AI-Product ID"/>
          <p:cNvSpPr/>
          <p:nvPr/>
        </p:nvSpPr>
        <p:spPr>
          <a:xfrm rot="-600">
            <a:off x="8868891" y="2209358"/>
            <a:ext cx="1638325" cy="143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AI-PRODUCT ID</a:t>
            </a:r>
            <a:endParaRPr lang="en-US" sz="1650" dirty="0"/>
          </a:p>
        </p:txBody>
      </p:sp>
      <p:sp>
        <p:nvSpPr>
          <p:cNvPr id="37" name="Email templates and action playbooks"/>
          <p:cNvSpPr/>
          <p:nvPr/>
        </p:nvSpPr>
        <p:spPr>
          <a:xfrm rot="-600">
            <a:off x="8098296" y="2813173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Email templates and action playbooks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38" name="Alert Ticketing"/>
          <p:cNvSpPr/>
          <p:nvPr/>
        </p:nvSpPr>
        <p:spPr>
          <a:xfrm rot="-600">
            <a:off x="1820763" y="4309855"/>
            <a:ext cx="1790725" cy="143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ALERT TICKETING</a:t>
            </a:r>
            <a:endParaRPr lang="en-US" sz="1650" dirty="0"/>
          </a:p>
        </p:txBody>
      </p:sp>
      <p:sp>
        <p:nvSpPr>
          <p:cNvPr id="39" name="AI-powered product identification and reconciliation"/>
          <p:cNvSpPr/>
          <p:nvPr/>
        </p:nvSpPr>
        <p:spPr>
          <a:xfrm rot="-600">
            <a:off x="1050159" y="4913696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AI-powered product identification and reconciliation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40" name="identification"/>
          <p:cNvSpPr/>
          <p:nvPr/>
        </p:nvSpPr>
        <p:spPr>
          <a:xfrm rot="-600">
            <a:off x="5345013" y="4309262"/>
            <a:ext cx="1657375" cy="1431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IDENTIFICATION</a:t>
            </a:r>
            <a:endParaRPr lang="en-US" sz="1650" dirty="0"/>
          </a:p>
        </p:txBody>
      </p:sp>
      <p:sp>
        <p:nvSpPr>
          <p:cNvPr id="41" name="Recall alert ticket system for awareness and streamlined tracking"/>
          <p:cNvSpPr/>
          <p:nvPr/>
        </p:nvSpPr>
        <p:spPr>
          <a:xfrm rot="-600">
            <a:off x="4574409" y="4913082"/>
            <a:ext cx="2922778" cy="8672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Recall “alert ticket” system for awareness and streamlined tracking</a:t>
            </a:r>
            <a:b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</a:br>
            <a:endParaRPr lang="en-US" sz="1350" dirty="0"/>
          </a:p>
        </p:txBody>
      </p:sp>
      <p:sp>
        <p:nvSpPr>
          <p:cNvPr id="42" name="RFID Integration"/>
          <p:cNvSpPr/>
          <p:nvPr/>
        </p:nvSpPr>
        <p:spPr>
          <a:xfrm rot="-600">
            <a:off x="8869263" y="4308600"/>
            <a:ext cx="1933600" cy="1432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00A8C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RFID INTEGRATION</a:t>
            </a:r>
            <a:endParaRPr lang="en-US" sz="1650" dirty="0"/>
          </a:p>
        </p:txBody>
      </p:sp>
      <p:sp>
        <p:nvSpPr>
          <p:cNvPr id="43" name="RFID scanner integration for real-time inventory validation"/>
          <p:cNvSpPr/>
          <p:nvPr/>
        </p:nvSpPr>
        <p:spPr>
          <a:xfrm rot="-600">
            <a:off x="8098659" y="4912466"/>
            <a:ext cx="2922734" cy="619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515151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rPr>
              <a:t>RFID scanner integration for real-time inventory validation
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379</Words>
  <Application>Microsoft Macintosh PowerPoint</Application>
  <PresentationFormat>Widescreen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Poppins Medium</vt:lpstr>
      <vt:lpstr>Poppins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Christopher Paradise</cp:lastModifiedBy>
  <cp:revision>4</cp:revision>
  <dcterms:created xsi:type="dcterms:W3CDTF">2025-08-15T12:38:00Z</dcterms:created>
  <dcterms:modified xsi:type="dcterms:W3CDTF">2025-08-26T21:34:04Z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6BFA0C89C9F04268A5581CC7462F6CE1_12</vt:lpwstr>
  </property>
  <property fmtid="{D5CDD505-2E9C-101B-9397-08002B2CF9AE}" pid="3" name="KSOProductBuildVer">
    <vt:lpwstr>1033-12.2.0.21931</vt:lpwstr>
  </property>
</Properties>
</file>