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26" Type="http://schemas.openxmlformats.org/officeDocument/2006/relationships/image" Target="../media/image30.sv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svg"/><Relationship Id="rId32" Type="http://schemas.openxmlformats.org/officeDocument/2006/relationships/image" Target="../media/image36.sv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sv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Relationship Id="rId22" Type="http://schemas.openxmlformats.org/officeDocument/2006/relationships/image" Target="../media/image26.svg"/><Relationship Id="rId27" Type="http://schemas.openxmlformats.org/officeDocument/2006/relationships/image" Target="../media/image31.png"/><Relationship Id="rId30" Type="http://schemas.openxmlformats.org/officeDocument/2006/relationships/image" Target="../media/image34.svg"/><Relationship Id="rId8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26" Type="http://schemas.openxmlformats.org/officeDocument/2006/relationships/image" Target="../media/image61.svg"/><Relationship Id="rId39" Type="http://schemas.openxmlformats.org/officeDocument/2006/relationships/image" Target="../media/image74.png"/><Relationship Id="rId21" Type="http://schemas.openxmlformats.org/officeDocument/2006/relationships/image" Target="../media/image56.png"/><Relationship Id="rId34" Type="http://schemas.openxmlformats.org/officeDocument/2006/relationships/image" Target="../media/image69.sv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33" Type="http://schemas.openxmlformats.org/officeDocument/2006/relationships/image" Target="../media/image68.png"/><Relationship Id="rId38" Type="http://schemas.openxmlformats.org/officeDocument/2006/relationships/image" Target="../media/image7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1.svg"/><Relationship Id="rId20" Type="http://schemas.openxmlformats.org/officeDocument/2006/relationships/image" Target="../media/image55.sv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24" Type="http://schemas.openxmlformats.org/officeDocument/2006/relationships/image" Target="../media/image59.svg"/><Relationship Id="rId32" Type="http://schemas.openxmlformats.org/officeDocument/2006/relationships/image" Target="../media/image67.svg"/><Relationship Id="rId37" Type="http://schemas.openxmlformats.org/officeDocument/2006/relationships/image" Target="../media/image72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svg"/><Relationship Id="rId36" Type="http://schemas.openxmlformats.org/officeDocument/2006/relationships/image" Target="../media/image71.svg"/><Relationship Id="rId10" Type="http://schemas.openxmlformats.org/officeDocument/2006/relationships/image" Target="../media/image45.svg"/><Relationship Id="rId19" Type="http://schemas.openxmlformats.org/officeDocument/2006/relationships/image" Target="../media/image54.png"/><Relationship Id="rId31" Type="http://schemas.openxmlformats.org/officeDocument/2006/relationships/image" Target="../media/image66.pn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Relationship Id="rId22" Type="http://schemas.openxmlformats.org/officeDocument/2006/relationships/image" Target="../media/image57.svg"/><Relationship Id="rId27" Type="http://schemas.openxmlformats.org/officeDocument/2006/relationships/image" Target="../media/image62.png"/><Relationship Id="rId30" Type="http://schemas.openxmlformats.org/officeDocument/2006/relationships/image" Target="../media/image65.svg"/><Relationship Id="rId35" Type="http://schemas.openxmlformats.org/officeDocument/2006/relationships/image" Target="../media/image70.png"/><Relationship Id="rId8" Type="http://schemas.openxmlformats.org/officeDocument/2006/relationships/image" Target="../media/image43.svg"/><Relationship Id="rId3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13" Type="http://schemas.openxmlformats.org/officeDocument/2006/relationships/image" Target="../media/image83.png"/><Relationship Id="rId18" Type="http://schemas.openxmlformats.org/officeDocument/2006/relationships/image" Target="../media/image88.svg"/><Relationship Id="rId26" Type="http://schemas.openxmlformats.org/officeDocument/2006/relationships/image" Target="../media/image96.svg"/><Relationship Id="rId3" Type="http://schemas.openxmlformats.org/officeDocument/2006/relationships/image" Target="../media/image1.jpe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6.svg"/><Relationship Id="rId20" Type="http://schemas.openxmlformats.org/officeDocument/2006/relationships/image" Target="../media/image90.svg"/><Relationship Id="rId29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svg"/><Relationship Id="rId11" Type="http://schemas.openxmlformats.org/officeDocument/2006/relationships/image" Target="../media/image81.png"/><Relationship Id="rId24" Type="http://schemas.openxmlformats.org/officeDocument/2006/relationships/image" Target="../media/image94.sv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28" Type="http://schemas.openxmlformats.org/officeDocument/2006/relationships/image" Target="../media/image98.svg"/><Relationship Id="rId10" Type="http://schemas.openxmlformats.org/officeDocument/2006/relationships/image" Target="../media/image80.svg"/><Relationship Id="rId19" Type="http://schemas.openxmlformats.org/officeDocument/2006/relationships/image" Target="../media/image89.png"/><Relationship Id="rId31" Type="http://schemas.openxmlformats.org/officeDocument/2006/relationships/image" Target="../media/image101.png"/><Relationship Id="rId4" Type="http://schemas.openxmlformats.org/officeDocument/2006/relationships/image" Target="../media/image5.png"/><Relationship Id="rId9" Type="http://schemas.openxmlformats.org/officeDocument/2006/relationships/image" Target="../media/image79.png"/><Relationship Id="rId14" Type="http://schemas.openxmlformats.org/officeDocument/2006/relationships/image" Target="../media/image84.svg"/><Relationship Id="rId22" Type="http://schemas.openxmlformats.org/officeDocument/2006/relationships/image" Target="../media/image92.svg"/><Relationship Id="rId27" Type="http://schemas.openxmlformats.org/officeDocument/2006/relationships/image" Target="../media/image97.png"/><Relationship Id="rId30" Type="http://schemas.openxmlformats.org/officeDocument/2006/relationships/image" Target="../media/image100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image" Target="../media/image115.png"/><Relationship Id="rId26" Type="http://schemas.openxmlformats.org/officeDocument/2006/relationships/image" Target="../media/image123.png"/><Relationship Id="rId39" Type="http://schemas.openxmlformats.org/officeDocument/2006/relationships/image" Target="../media/image136.svg"/><Relationship Id="rId21" Type="http://schemas.openxmlformats.org/officeDocument/2006/relationships/image" Target="../media/image118.svg"/><Relationship Id="rId34" Type="http://schemas.openxmlformats.org/officeDocument/2006/relationships/image" Target="../media/image131.png"/><Relationship Id="rId42" Type="http://schemas.openxmlformats.org/officeDocument/2006/relationships/image" Target="../media/image139.png"/><Relationship Id="rId47" Type="http://schemas.openxmlformats.org/officeDocument/2006/relationships/image" Target="../media/image144.sv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4.svg"/><Relationship Id="rId29" Type="http://schemas.openxmlformats.org/officeDocument/2006/relationships/image" Target="../media/image126.svg"/><Relationship Id="rId11" Type="http://schemas.openxmlformats.org/officeDocument/2006/relationships/image" Target="../media/image109.png"/><Relationship Id="rId24" Type="http://schemas.openxmlformats.org/officeDocument/2006/relationships/image" Target="../media/image121.png"/><Relationship Id="rId32" Type="http://schemas.openxmlformats.org/officeDocument/2006/relationships/image" Target="../media/image129.png"/><Relationship Id="rId37" Type="http://schemas.openxmlformats.org/officeDocument/2006/relationships/image" Target="../media/image134.svg"/><Relationship Id="rId40" Type="http://schemas.openxmlformats.org/officeDocument/2006/relationships/image" Target="../media/image137.png"/><Relationship Id="rId45" Type="http://schemas.openxmlformats.org/officeDocument/2006/relationships/image" Target="../media/image142.sv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23" Type="http://schemas.openxmlformats.org/officeDocument/2006/relationships/image" Target="../media/image120.sv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49" Type="http://schemas.openxmlformats.org/officeDocument/2006/relationships/image" Target="../media/image146.svg"/><Relationship Id="rId10" Type="http://schemas.openxmlformats.org/officeDocument/2006/relationships/image" Target="../media/image108.svg"/><Relationship Id="rId19" Type="http://schemas.openxmlformats.org/officeDocument/2006/relationships/image" Target="../media/image116.svg"/><Relationship Id="rId31" Type="http://schemas.openxmlformats.org/officeDocument/2006/relationships/image" Target="../media/image128.svg"/><Relationship Id="rId44" Type="http://schemas.openxmlformats.org/officeDocument/2006/relationships/image" Target="../media/image141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svg"/><Relationship Id="rId22" Type="http://schemas.openxmlformats.org/officeDocument/2006/relationships/image" Target="../media/image119.png"/><Relationship Id="rId27" Type="http://schemas.openxmlformats.org/officeDocument/2006/relationships/image" Target="../media/image124.svg"/><Relationship Id="rId30" Type="http://schemas.openxmlformats.org/officeDocument/2006/relationships/image" Target="../media/image127.png"/><Relationship Id="rId35" Type="http://schemas.openxmlformats.org/officeDocument/2006/relationships/image" Target="../media/image132.svg"/><Relationship Id="rId43" Type="http://schemas.openxmlformats.org/officeDocument/2006/relationships/image" Target="../media/image140.svg"/><Relationship Id="rId48" Type="http://schemas.openxmlformats.org/officeDocument/2006/relationships/image" Target="../media/image145.png"/><Relationship Id="rId8" Type="http://schemas.openxmlformats.org/officeDocument/2006/relationships/image" Target="../media/image106.svg"/><Relationship Id="rId3" Type="http://schemas.openxmlformats.org/officeDocument/2006/relationships/image" Target="../media/image1.jpeg"/><Relationship Id="rId12" Type="http://schemas.openxmlformats.org/officeDocument/2006/relationships/image" Target="../media/image110.svg"/><Relationship Id="rId17" Type="http://schemas.openxmlformats.org/officeDocument/2006/relationships/image" Target="../media/image5.png"/><Relationship Id="rId25" Type="http://schemas.openxmlformats.org/officeDocument/2006/relationships/image" Target="../media/image122.svg"/><Relationship Id="rId33" Type="http://schemas.openxmlformats.org/officeDocument/2006/relationships/image" Target="../media/image130.svg"/><Relationship Id="rId38" Type="http://schemas.openxmlformats.org/officeDocument/2006/relationships/image" Target="../media/image135.png"/><Relationship Id="rId46" Type="http://schemas.openxmlformats.org/officeDocument/2006/relationships/image" Target="../media/image143.png"/><Relationship Id="rId20" Type="http://schemas.openxmlformats.org/officeDocument/2006/relationships/image" Target="../media/image117.png"/><Relationship Id="rId41" Type="http://schemas.openxmlformats.org/officeDocument/2006/relationships/image" Target="../media/image1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.svg"/><Relationship Id="rId18" Type="http://schemas.openxmlformats.org/officeDocument/2006/relationships/image" Target="../media/image160.png"/><Relationship Id="rId26" Type="http://schemas.openxmlformats.org/officeDocument/2006/relationships/image" Target="../media/image168.png"/><Relationship Id="rId39" Type="http://schemas.openxmlformats.org/officeDocument/2006/relationships/image" Target="../media/image181.svg"/><Relationship Id="rId21" Type="http://schemas.openxmlformats.org/officeDocument/2006/relationships/image" Target="../media/image163.svg"/><Relationship Id="rId34" Type="http://schemas.openxmlformats.org/officeDocument/2006/relationships/image" Target="../media/image176.png"/><Relationship Id="rId42" Type="http://schemas.openxmlformats.org/officeDocument/2006/relationships/image" Target="../media/image184.png"/><Relationship Id="rId47" Type="http://schemas.openxmlformats.org/officeDocument/2006/relationships/image" Target="../media/image189.svg"/><Relationship Id="rId7" Type="http://schemas.openxmlformats.org/officeDocument/2006/relationships/image" Target="../media/image14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8.png"/><Relationship Id="rId29" Type="http://schemas.openxmlformats.org/officeDocument/2006/relationships/image" Target="../media/image1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3.svg"/><Relationship Id="rId24" Type="http://schemas.openxmlformats.org/officeDocument/2006/relationships/image" Target="../media/image166.png"/><Relationship Id="rId32" Type="http://schemas.openxmlformats.org/officeDocument/2006/relationships/image" Target="../media/image174.png"/><Relationship Id="rId37" Type="http://schemas.openxmlformats.org/officeDocument/2006/relationships/image" Target="../media/image179.svg"/><Relationship Id="rId40" Type="http://schemas.openxmlformats.org/officeDocument/2006/relationships/image" Target="../media/image182.png"/><Relationship Id="rId45" Type="http://schemas.openxmlformats.org/officeDocument/2006/relationships/image" Target="../media/image187.svg"/><Relationship Id="rId5" Type="http://schemas.openxmlformats.org/officeDocument/2006/relationships/image" Target="../media/image5.png"/><Relationship Id="rId15" Type="http://schemas.openxmlformats.org/officeDocument/2006/relationships/image" Target="../media/image157.svg"/><Relationship Id="rId23" Type="http://schemas.openxmlformats.org/officeDocument/2006/relationships/image" Target="../media/image165.svg"/><Relationship Id="rId28" Type="http://schemas.openxmlformats.org/officeDocument/2006/relationships/image" Target="../media/image170.png"/><Relationship Id="rId36" Type="http://schemas.openxmlformats.org/officeDocument/2006/relationships/image" Target="../media/image178.png"/><Relationship Id="rId10" Type="http://schemas.openxmlformats.org/officeDocument/2006/relationships/image" Target="../media/image152.png"/><Relationship Id="rId19" Type="http://schemas.openxmlformats.org/officeDocument/2006/relationships/image" Target="../media/image161.svg"/><Relationship Id="rId31" Type="http://schemas.openxmlformats.org/officeDocument/2006/relationships/image" Target="../media/image173.svg"/><Relationship Id="rId44" Type="http://schemas.openxmlformats.org/officeDocument/2006/relationships/image" Target="../media/image186.png"/><Relationship Id="rId4" Type="http://schemas.openxmlformats.org/officeDocument/2006/relationships/image" Target="../media/image147.png"/><Relationship Id="rId9" Type="http://schemas.openxmlformats.org/officeDocument/2006/relationships/image" Target="../media/image151.svg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Relationship Id="rId27" Type="http://schemas.openxmlformats.org/officeDocument/2006/relationships/image" Target="../media/image169.svg"/><Relationship Id="rId30" Type="http://schemas.openxmlformats.org/officeDocument/2006/relationships/image" Target="../media/image172.png"/><Relationship Id="rId35" Type="http://schemas.openxmlformats.org/officeDocument/2006/relationships/image" Target="../media/image177.svg"/><Relationship Id="rId43" Type="http://schemas.openxmlformats.org/officeDocument/2006/relationships/image" Target="../media/image185.svg"/><Relationship Id="rId8" Type="http://schemas.openxmlformats.org/officeDocument/2006/relationships/image" Target="../media/image150.png"/><Relationship Id="rId3" Type="http://schemas.openxmlformats.org/officeDocument/2006/relationships/image" Target="../media/image1.jpeg"/><Relationship Id="rId12" Type="http://schemas.openxmlformats.org/officeDocument/2006/relationships/image" Target="../media/image154.png"/><Relationship Id="rId17" Type="http://schemas.openxmlformats.org/officeDocument/2006/relationships/image" Target="../media/image159.svg"/><Relationship Id="rId25" Type="http://schemas.openxmlformats.org/officeDocument/2006/relationships/image" Target="../media/image167.svg"/><Relationship Id="rId33" Type="http://schemas.openxmlformats.org/officeDocument/2006/relationships/image" Target="../media/image175.svg"/><Relationship Id="rId38" Type="http://schemas.openxmlformats.org/officeDocument/2006/relationships/image" Target="../media/image180.png"/><Relationship Id="rId46" Type="http://schemas.openxmlformats.org/officeDocument/2006/relationships/image" Target="../media/image188.png"/><Relationship Id="rId20" Type="http://schemas.openxmlformats.org/officeDocument/2006/relationships/image" Target="../media/image162.png"/><Relationship Id="rId41" Type="http://schemas.openxmlformats.org/officeDocument/2006/relationships/image" Target="../media/image183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png"/><Relationship Id="rId18" Type="http://schemas.openxmlformats.org/officeDocument/2006/relationships/image" Target="../media/image204.svg"/><Relationship Id="rId26" Type="http://schemas.openxmlformats.org/officeDocument/2006/relationships/image" Target="../media/image212.svg"/><Relationship Id="rId39" Type="http://schemas.openxmlformats.org/officeDocument/2006/relationships/image" Target="../media/image225.png"/><Relationship Id="rId21" Type="http://schemas.openxmlformats.org/officeDocument/2006/relationships/image" Target="../media/image207.png"/><Relationship Id="rId34" Type="http://schemas.openxmlformats.org/officeDocument/2006/relationships/image" Target="../media/image220.svg"/><Relationship Id="rId42" Type="http://schemas.openxmlformats.org/officeDocument/2006/relationships/image" Target="../media/image228.svg"/><Relationship Id="rId47" Type="http://schemas.openxmlformats.org/officeDocument/2006/relationships/image" Target="../media/image233.png"/><Relationship Id="rId50" Type="http://schemas.openxmlformats.org/officeDocument/2006/relationships/image" Target="../media/image236.svg"/><Relationship Id="rId55" Type="http://schemas.openxmlformats.org/officeDocument/2006/relationships/image" Target="../media/image241.png"/><Relationship Id="rId7" Type="http://schemas.openxmlformats.org/officeDocument/2006/relationships/image" Target="../media/image193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2.svg"/><Relationship Id="rId29" Type="http://schemas.openxmlformats.org/officeDocument/2006/relationships/image" Target="../media/image215.png"/><Relationship Id="rId11" Type="http://schemas.openxmlformats.org/officeDocument/2006/relationships/image" Target="../media/image197.png"/><Relationship Id="rId24" Type="http://schemas.openxmlformats.org/officeDocument/2006/relationships/image" Target="../media/image210.svg"/><Relationship Id="rId32" Type="http://schemas.openxmlformats.org/officeDocument/2006/relationships/image" Target="../media/image218.svg"/><Relationship Id="rId37" Type="http://schemas.openxmlformats.org/officeDocument/2006/relationships/image" Target="../media/image223.png"/><Relationship Id="rId40" Type="http://schemas.openxmlformats.org/officeDocument/2006/relationships/image" Target="../media/image226.svg"/><Relationship Id="rId45" Type="http://schemas.openxmlformats.org/officeDocument/2006/relationships/image" Target="../media/image231.png"/><Relationship Id="rId53" Type="http://schemas.openxmlformats.org/officeDocument/2006/relationships/image" Target="../media/image239.png"/><Relationship Id="rId5" Type="http://schemas.openxmlformats.org/officeDocument/2006/relationships/image" Target="../media/image191.svg"/><Relationship Id="rId10" Type="http://schemas.openxmlformats.org/officeDocument/2006/relationships/image" Target="../media/image196.svg"/><Relationship Id="rId19" Type="http://schemas.openxmlformats.org/officeDocument/2006/relationships/image" Target="../media/image205.png"/><Relationship Id="rId31" Type="http://schemas.openxmlformats.org/officeDocument/2006/relationships/image" Target="../media/image217.png"/><Relationship Id="rId44" Type="http://schemas.openxmlformats.org/officeDocument/2006/relationships/image" Target="../media/image230.svg"/><Relationship Id="rId52" Type="http://schemas.openxmlformats.org/officeDocument/2006/relationships/image" Target="../media/image238.sv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svg"/><Relationship Id="rId22" Type="http://schemas.openxmlformats.org/officeDocument/2006/relationships/image" Target="../media/image208.svg"/><Relationship Id="rId27" Type="http://schemas.openxmlformats.org/officeDocument/2006/relationships/image" Target="../media/image213.png"/><Relationship Id="rId30" Type="http://schemas.openxmlformats.org/officeDocument/2006/relationships/image" Target="../media/image216.svg"/><Relationship Id="rId35" Type="http://schemas.openxmlformats.org/officeDocument/2006/relationships/image" Target="../media/image221.png"/><Relationship Id="rId43" Type="http://schemas.openxmlformats.org/officeDocument/2006/relationships/image" Target="../media/image229.png"/><Relationship Id="rId48" Type="http://schemas.openxmlformats.org/officeDocument/2006/relationships/image" Target="../media/image234.svg"/><Relationship Id="rId56" Type="http://schemas.openxmlformats.org/officeDocument/2006/relationships/image" Target="../media/image242.svg"/><Relationship Id="rId8" Type="http://schemas.openxmlformats.org/officeDocument/2006/relationships/image" Target="../media/image194.png"/><Relationship Id="rId51" Type="http://schemas.openxmlformats.org/officeDocument/2006/relationships/image" Target="../media/image237.png"/><Relationship Id="rId3" Type="http://schemas.openxmlformats.org/officeDocument/2006/relationships/image" Target="../media/image1.jpeg"/><Relationship Id="rId12" Type="http://schemas.openxmlformats.org/officeDocument/2006/relationships/image" Target="../media/image198.svg"/><Relationship Id="rId17" Type="http://schemas.openxmlformats.org/officeDocument/2006/relationships/image" Target="../media/image203.png"/><Relationship Id="rId25" Type="http://schemas.openxmlformats.org/officeDocument/2006/relationships/image" Target="../media/image211.png"/><Relationship Id="rId33" Type="http://schemas.openxmlformats.org/officeDocument/2006/relationships/image" Target="../media/image219.png"/><Relationship Id="rId38" Type="http://schemas.openxmlformats.org/officeDocument/2006/relationships/image" Target="../media/image224.svg"/><Relationship Id="rId46" Type="http://schemas.openxmlformats.org/officeDocument/2006/relationships/image" Target="../media/image232.svg"/><Relationship Id="rId20" Type="http://schemas.openxmlformats.org/officeDocument/2006/relationships/image" Target="../media/image206.svg"/><Relationship Id="rId41" Type="http://schemas.openxmlformats.org/officeDocument/2006/relationships/image" Target="../media/image227.png"/><Relationship Id="rId54" Type="http://schemas.openxmlformats.org/officeDocument/2006/relationships/image" Target="../media/image2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5" Type="http://schemas.openxmlformats.org/officeDocument/2006/relationships/image" Target="../media/image201.png"/><Relationship Id="rId23" Type="http://schemas.openxmlformats.org/officeDocument/2006/relationships/image" Target="../media/image209.png"/><Relationship Id="rId28" Type="http://schemas.openxmlformats.org/officeDocument/2006/relationships/image" Target="../media/image214.svg"/><Relationship Id="rId36" Type="http://schemas.openxmlformats.org/officeDocument/2006/relationships/image" Target="../media/image222.svg"/><Relationship Id="rId49" Type="http://schemas.openxmlformats.org/officeDocument/2006/relationships/image" Target="../media/image2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Cover Page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image 7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37" y="1255"/>
            <a:ext cx="5001824" cy="6858873"/>
          </a:xfrm>
          <a:prstGeom prst="rect">
            <a:avLst/>
          </a:prstGeom>
        </p:spPr>
      </p:pic>
      <p:pic>
        <p:nvPicPr>
          <p:cNvPr id="5" name="image 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2100" y="572880"/>
            <a:ext cx="1762338" cy="610216"/>
          </a:xfrm>
          <a:prstGeom prst="rect">
            <a:avLst/>
          </a:prstGeom>
        </p:spPr>
      </p:pic>
      <p:pic>
        <p:nvPicPr>
          <p:cNvPr id="6" name="Ellipse 1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7" name="Ellipse 2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40378" y="0"/>
            <a:ext cx="3852819" cy="3853756"/>
          </a:xfrm>
          <a:prstGeom prst="rect">
            <a:avLst/>
          </a:prstGeom>
        </p:spPr>
      </p:pic>
      <p:sp>
        <p:nvSpPr>
          <p:cNvPr id="8" name="Medical Device Recall Management System"/>
          <p:cNvSpPr/>
          <p:nvPr/>
        </p:nvSpPr>
        <p:spPr>
          <a:xfrm rot="-600">
            <a:off x="732717" y="2677537"/>
            <a:ext cx="5812111" cy="15059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MEDICAL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DEVICE RECALL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SYSTEM</a:t>
            </a:r>
            <a:endParaRPr lang="en-US" sz="4050" dirty="0"/>
          </a:p>
        </p:txBody>
      </p:sp>
      <p:sp>
        <p:nvSpPr>
          <p:cNvPr id="9" name="wwwrecallwirecom"/>
          <p:cNvSpPr/>
          <p:nvPr/>
        </p:nvSpPr>
        <p:spPr>
          <a:xfrm rot="-600">
            <a:off x="763076" y="6164371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001558" y="5344109"/>
            <a:ext cx="1924555" cy="1448473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41575" y="3009150"/>
            <a:ext cx="3851622" cy="3850978"/>
          </a:xfrm>
          <a:prstGeom prst="rect">
            <a:avLst/>
          </a:prstGeom>
        </p:spPr>
      </p:pic>
      <p:pic>
        <p:nvPicPr>
          <p:cNvPr id="4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1204"/>
            <a:ext cx="5296106" cy="4449099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784463" y="1979638"/>
            <a:ext cx="676511" cy="676511"/>
          </a:xfrm>
          <a:prstGeom prst="rect">
            <a:avLst/>
          </a:prstGeom>
        </p:spPr>
      </p:pic>
      <p:pic>
        <p:nvPicPr>
          <p:cNvPr id="6" name="Group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987600" y="2146569"/>
            <a:ext cx="266800" cy="285843"/>
          </a:xfrm>
          <a:prstGeom prst="rect">
            <a:avLst/>
          </a:prstGeom>
        </p:spPr>
      </p:pic>
      <p:pic>
        <p:nvPicPr>
          <p:cNvPr id="7" name="Ellips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5809922" y="2005109"/>
            <a:ext cx="623888" cy="623888"/>
          </a:xfrm>
          <a:prstGeom prst="rect">
            <a:avLst/>
          </a:prstGeom>
        </p:spPr>
      </p:pic>
      <p:pic>
        <p:nvPicPr>
          <p:cNvPr id="8" name="Ellipse 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5784628" y="2938122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997255" y="3126827"/>
            <a:ext cx="247753" cy="295361"/>
          </a:xfrm>
          <a:prstGeom prst="rect">
            <a:avLst/>
          </a:prstGeom>
        </p:spPr>
      </p:pic>
      <p:pic>
        <p:nvPicPr>
          <p:cNvPr id="10" name="Ellipse 5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784796" y="3896607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961638" y="4088947"/>
            <a:ext cx="323950" cy="285863"/>
          </a:xfrm>
          <a:prstGeom prst="rect">
            <a:avLst/>
          </a:prstGeom>
        </p:spPr>
      </p:pic>
      <p:pic>
        <p:nvPicPr>
          <p:cNvPr id="12" name="Ellipse 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784963" y="4855093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973054" y="5039704"/>
            <a:ext cx="304906" cy="304906"/>
          </a:xfrm>
          <a:prstGeom prst="rect">
            <a:avLst/>
          </a:prstGeom>
        </p:spPr>
      </p:pic>
      <p:pic>
        <p:nvPicPr>
          <p:cNvPr id="14" name="Ellipse 8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5810090" y="2963591"/>
            <a:ext cx="623888" cy="623888"/>
          </a:xfrm>
          <a:prstGeom prst="rect">
            <a:avLst/>
          </a:prstGeom>
        </p:spPr>
      </p:pic>
      <p:pic>
        <p:nvPicPr>
          <p:cNvPr id="15" name="Ellipse 9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5810257" y="3922077"/>
            <a:ext cx="623888" cy="623888"/>
          </a:xfrm>
          <a:prstGeom prst="rect">
            <a:avLst/>
          </a:prstGeom>
        </p:spPr>
      </p:pic>
      <p:pic>
        <p:nvPicPr>
          <p:cNvPr id="16" name="Ellipse 10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5810424" y="4880563"/>
            <a:ext cx="623888" cy="623888"/>
          </a:xfrm>
          <a:prstGeom prst="rect">
            <a:avLst/>
          </a:prstGeom>
        </p:spPr>
      </p:pic>
      <p:pic>
        <p:nvPicPr>
          <p:cNvPr id="17" name="Layer_1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9763092" y="0"/>
            <a:ext cx="2430105" cy="2021494"/>
          </a:xfrm>
          <a:prstGeom prst="rect">
            <a:avLst/>
          </a:prstGeom>
        </p:spPr>
      </p:pic>
      <p:pic>
        <p:nvPicPr>
          <p:cNvPr id="18" name="485150444_122233977032201019_6148496236637161062_n 1" descr="preencoded.png"/>
          <p:cNvPicPr>
            <a:picLocks noChangeAspect="1"/>
          </p:cNvPicPr>
          <p:nvPr/>
        </p:nvPicPr>
        <p:blipFill>
          <a:blip r:embed="rId33"/>
          <a:srcRect/>
          <a:stretch>
            <a:fillRect/>
          </a:stretch>
        </p:blipFill>
        <p:spPr>
          <a:xfrm>
            <a:off x="0" y="0"/>
            <a:ext cx="5241221" cy="6860128"/>
          </a:xfrm>
          <a:prstGeom prst="rect">
            <a:avLst/>
          </a:prstGeom>
        </p:spPr>
      </p:pic>
      <p:sp>
        <p:nvSpPr>
          <p:cNvPr id="19" name="name_02"/>
          <p:cNvSpPr/>
          <p:nvPr/>
        </p:nvSpPr>
        <p:spPr>
          <a:xfrm rot="-600">
            <a:off x="11231052" y="6162806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Automate"/>
          <p:cNvSpPr/>
          <p:nvPr/>
        </p:nvSpPr>
        <p:spPr>
          <a:xfrm rot="-600">
            <a:off x="5784349" y="1331688"/>
            <a:ext cx="2876613" cy="362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AUTOMATE</a:t>
            </a:r>
            <a:endParaRPr lang="en-US" sz="4050" dirty="0"/>
          </a:p>
        </p:txBody>
      </p:sp>
      <p:sp>
        <p:nvSpPr>
          <p:cNvPr id="21" name="Recall alerts delivered 2545 days faster than FDA traditional processes"/>
          <p:cNvSpPr/>
          <p:nvPr/>
        </p:nvSpPr>
        <p:spPr>
          <a:xfrm rot="-600">
            <a:off x="6610213" y="213906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alerts delivered 25–45 days faster than FDA traditional processes</a:t>
            </a:r>
            <a:endParaRPr lang="en-US" sz="1350" dirty="0"/>
          </a:p>
        </p:txBody>
      </p:sp>
      <p:sp>
        <p:nvSpPr>
          <p:cNvPr id="22" name="AI platform receives notifications and instantly routes to responsible parties"/>
          <p:cNvSpPr/>
          <p:nvPr/>
        </p:nvSpPr>
        <p:spPr>
          <a:xfrm rot="-600">
            <a:off x="6610378" y="3097550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 platform receives notifications and instantly routes to responsible parties</a:t>
            </a:r>
            <a:endParaRPr lang="en-US" sz="1350" dirty="0"/>
          </a:p>
        </p:txBody>
      </p:sp>
      <p:sp>
        <p:nvSpPr>
          <p:cNvPr id="23" name="Immediate inventory identification and removal from shelves"/>
          <p:cNvSpPr/>
          <p:nvPr/>
        </p:nvSpPr>
        <p:spPr>
          <a:xfrm rot="-600">
            <a:off x="6610545" y="405603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Immediate inventory identification and removal from shelves</a:t>
            </a:r>
            <a:endParaRPr lang="en-US" sz="1350" dirty="0"/>
          </a:p>
        </p:txBody>
      </p:sp>
      <p:sp>
        <p:nvSpPr>
          <p:cNvPr id="24" name="End-to-end lifecycle visibility for every recall"/>
          <p:cNvSpPr/>
          <p:nvPr/>
        </p:nvSpPr>
        <p:spPr>
          <a:xfrm rot="-600">
            <a:off x="6610734" y="5128821"/>
            <a:ext cx="4714897" cy="124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End-to-end lifecycle visibility for every recall</a:t>
            </a:r>
            <a:endParaRPr lang="en-US" sz="1350" dirty="0"/>
          </a:p>
        </p:txBody>
      </p:sp>
      <p:sp>
        <p:nvSpPr>
          <p:cNvPr id="25" name="wwwrecallwirecom"/>
          <p:cNvSpPr/>
          <p:nvPr/>
        </p:nvSpPr>
        <p:spPr>
          <a:xfrm rot="-600">
            <a:off x="496377" y="6173943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1476936"/>
            <a:ext cx="4249652" cy="3563999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144265" y="800016"/>
            <a:ext cx="2048932" cy="1905441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293702" y="1905273"/>
            <a:ext cx="2667605" cy="1734481"/>
          </a:xfrm>
          <a:prstGeom prst="rect">
            <a:avLst/>
          </a:prstGeom>
        </p:spPr>
      </p:pic>
      <p:pic>
        <p:nvPicPr>
          <p:cNvPr id="5" name="Rectangl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294037" y="3829324"/>
            <a:ext cx="2667605" cy="1734481"/>
          </a:xfrm>
          <a:prstGeom prst="rect">
            <a:avLst/>
          </a:prstGeom>
        </p:spPr>
      </p:pic>
      <p:pic>
        <p:nvPicPr>
          <p:cNvPr id="6" name="Rectangl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153398" y="1904774"/>
            <a:ext cx="2667605" cy="1734481"/>
          </a:xfrm>
          <a:prstGeom prst="rect">
            <a:avLst/>
          </a:prstGeom>
        </p:spPr>
      </p:pic>
      <p:pic>
        <p:nvPicPr>
          <p:cNvPr id="7" name="Rectangl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8153733" y="3828824"/>
            <a:ext cx="2667605" cy="1734481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436603" y="2048819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618662" y="2249420"/>
            <a:ext cx="304903" cy="29538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462062" y="2074289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436938" y="3977932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462399" y="4003405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8301730" y="2048319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327189" y="2073789"/>
            <a:ext cx="623888" cy="623888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302065" y="3977432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492342" y="4181931"/>
            <a:ext cx="295368" cy="266803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8327527" y="4002905"/>
            <a:ext cx="623888" cy="623888"/>
          </a:xfrm>
          <a:prstGeom prst="rect">
            <a:avLst/>
          </a:prstGeom>
        </p:spPr>
      </p:pic>
      <p:pic>
        <p:nvPicPr>
          <p:cNvPr id="18" name="Group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8514355" y="2237023"/>
            <a:ext cx="247753" cy="29536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5640079" y="4154393"/>
            <a:ext cx="266800" cy="285843"/>
          </a:xfrm>
          <a:prstGeom prst="rect">
            <a:avLst/>
          </a:prstGeom>
        </p:spPr>
      </p:pic>
      <p:pic>
        <p:nvPicPr>
          <p:cNvPr id="20" name="Untitled design (3) 1" descr="preencoded.png"/>
          <p:cNvPicPr>
            <a:picLocks noChangeAspect="1"/>
          </p:cNvPicPr>
          <p:nvPr/>
        </p:nvPicPr>
        <p:blipFill>
          <a:blip r:embed="rId39"/>
          <a:srcRect/>
          <a:stretch>
            <a:fillRect/>
          </a:stretch>
        </p:blipFill>
        <p:spPr>
          <a:xfrm>
            <a:off x="0" y="2296494"/>
            <a:ext cx="6640153" cy="4563634"/>
          </a:xfrm>
          <a:prstGeom prst="rect">
            <a:avLst/>
          </a:prstGeom>
        </p:spPr>
      </p:pic>
      <p:sp>
        <p:nvSpPr>
          <p:cNvPr id="21" name="Visualize - Respond - Train"/>
          <p:cNvSpPr/>
          <p:nvPr/>
        </p:nvSpPr>
        <p:spPr>
          <a:xfrm rot="-600">
            <a:off x="2390924" y="846561"/>
            <a:ext cx="7658163" cy="363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VISUALIZE - RESPOND - TRAIN</a:t>
            </a:r>
            <a:endParaRPr lang="en-US" sz="4050" dirty="0"/>
          </a:p>
        </p:txBody>
      </p:sp>
      <p:sp>
        <p:nvSpPr>
          <p:cNvPr id="22" name="name_03"/>
          <p:cNvSpPr/>
          <p:nvPr/>
        </p:nvSpPr>
        <p:spPr>
          <a:xfrm rot="-600">
            <a:off x="11223731" y="6162808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03</a:t>
            </a:r>
            <a:endParaRPr lang="en-US" sz="1350" dirty="0"/>
          </a:p>
        </p:txBody>
      </p:sp>
      <p:sp>
        <p:nvSpPr>
          <p:cNvPr id="23" name="management training"/>
          <p:cNvSpPr/>
          <p:nvPr/>
        </p:nvSpPr>
        <p:spPr>
          <a:xfrm rot="-600">
            <a:off x="6210686" y="2213595"/>
            <a:ext cx="1438335" cy="343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
TRAINING</a:t>
            </a:r>
            <a:endParaRPr lang="en-US" sz="1500" dirty="0"/>
          </a:p>
        </p:txBody>
      </p:sp>
      <p:sp>
        <p:nvSpPr>
          <p:cNvPr id="24" name="instant notifications"/>
          <p:cNvSpPr/>
          <p:nvPr/>
        </p:nvSpPr>
        <p:spPr>
          <a:xfrm rot="-600">
            <a:off x="6211023" y="4142701"/>
            <a:ext cx="1495485" cy="3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INSTANT
NOTIFICATIONS</a:t>
            </a:r>
            <a:endParaRPr lang="en-US" sz="1500" dirty="0"/>
          </a:p>
        </p:txBody>
      </p:sp>
      <p:sp>
        <p:nvSpPr>
          <p:cNvPr id="25" name="Unified platform"/>
          <p:cNvSpPr/>
          <p:nvPr/>
        </p:nvSpPr>
        <p:spPr>
          <a:xfrm rot="-600">
            <a:off x="9069744" y="2213166"/>
            <a:ext cx="1028760" cy="343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UNIFIED
PLATFORM</a:t>
            </a:r>
            <a:endParaRPr lang="en-US" sz="1500" dirty="0"/>
          </a:p>
        </p:txBody>
      </p:sp>
      <p:sp>
        <p:nvSpPr>
          <p:cNvPr id="26" name="Real-time execution"/>
          <p:cNvSpPr/>
          <p:nvPr/>
        </p:nvSpPr>
        <p:spPr>
          <a:xfrm rot="-600">
            <a:off x="9070081" y="4142267"/>
            <a:ext cx="1104960" cy="3430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REAL-TIME
EXECUTION </a:t>
            </a:r>
            <a:endParaRPr lang="en-US" sz="1500" dirty="0"/>
          </a:p>
        </p:txBody>
      </p:sp>
      <p:sp>
        <p:nvSpPr>
          <p:cNvPr id="27" name="Live web-based and management training for rapid recall handling"/>
          <p:cNvSpPr/>
          <p:nvPr/>
        </p:nvSpPr>
        <p:spPr>
          <a:xfrm rot="-600">
            <a:off x="5436754" y="2918871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Live web-based and management training for rapid recall handling</a:t>
            </a:r>
            <a:endParaRPr lang="en-US" sz="1125" dirty="0"/>
          </a:p>
        </p:txBody>
      </p:sp>
      <p:sp>
        <p:nvSpPr>
          <p:cNvPr id="28" name="Users receive instant notifications to their specific affected facilitydepartments"/>
          <p:cNvSpPr/>
          <p:nvPr/>
        </p:nvSpPr>
        <p:spPr>
          <a:xfrm rot="-600">
            <a:off x="5437091" y="48479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Users receive instant notifications to their specific affected facility/department(s)</a:t>
            </a:r>
            <a:endParaRPr lang="en-US" sz="1125" dirty="0"/>
          </a:p>
        </p:txBody>
      </p:sp>
      <p:sp>
        <p:nvSpPr>
          <p:cNvPr id="29" name="Unified platform connecting all facilities and departments"/>
          <p:cNvSpPr/>
          <p:nvPr/>
        </p:nvSpPr>
        <p:spPr>
          <a:xfrm rot="-600">
            <a:off x="8301882" y="2918371"/>
            <a:ext cx="2421844" cy="286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Unified platform connecting all facilities and departments</a:t>
            </a:r>
            <a:endParaRPr lang="en-US" sz="1125" dirty="0"/>
          </a:p>
        </p:txBody>
      </p:sp>
      <p:sp>
        <p:nvSpPr>
          <p:cNvPr id="30" name="Real-time execution ensures product safety and reduces patient exposure"/>
          <p:cNvSpPr/>
          <p:nvPr/>
        </p:nvSpPr>
        <p:spPr>
          <a:xfrm rot="-600">
            <a:off x="8302219" y="48474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Real-time execution ensures product safety and reduces patient exposure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62260" y="1495029"/>
            <a:ext cx="7239499" cy="1431277"/>
          </a:xfrm>
          <a:prstGeom prst="rect">
            <a:avLst/>
          </a:prstGeom>
        </p:spPr>
      </p:pic>
      <p:pic>
        <p:nvPicPr>
          <p:cNvPr id="5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62530" y="3038079"/>
            <a:ext cx="7239499" cy="1431277"/>
          </a:xfrm>
          <a:prstGeom prst="rect">
            <a:avLst/>
          </a:prstGeom>
        </p:spPr>
      </p:pic>
      <p:pic>
        <p:nvPicPr>
          <p:cNvPr id="6" name="Rectangle 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762800" y="4581129"/>
            <a:ext cx="7239499" cy="1431277"/>
          </a:xfrm>
          <a:prstGeom prst="rect">
            <a:avLst/>
          </a:prstGeom>
        </p:spPr>
      </p:pic>
      <p:pic>
        <p:nvPicPr>
          <p:cNvPr id="7" name="Layer_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324822" y="0"/>
            <a:ext cx="3868375" cy="3396456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952793" y="1687788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2499" y="1850110"/>
            <a:ext cx="333491" cy="33349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978252" y="1713258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953063" y="3230838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978522" y="3256308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953333" y="4773888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978791" y="4799356"/>
            <a:ext cx="623888" cy="623888"/>
          </a:xfrm>
          <a:prstGeom prst="rect">
            <a:avLst/>
          </a:prstGeom>
        </p:spPr>
      </p:pic>
      <p:pic>
        <p:nvPicPr>
          <p:cNvPr id="15" name="Group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1123043" y="4943656"/>
            <a:ext cx="333491" cy="33349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1122769" y="3416646"/>
            <a:ext cx="333481" cy="304916"/>
          </a:xfrm>
          <a:prstGeom prst="rect">
            <a:avLst/>
          </a:prstGeom>
        </p:spPr>
      </p:pic>
      <p:pic>
        <p:nvPicPr>
          <p:cNvPr id="17" name="Untitled design (2) 1" descr="preencoded.png"/>
          <p:cNvPicPr>
            <a:picLocks noChangeAspect="1"/>
          </p:cNvPicPr>
          <p:nvPr/>
        </p:nvPicPr>
        <p:blipFill>
          <a:blip r:embed="rId31"/>
          <a:srcRect/>
          <a:stretch>
            <a:fillRect/>
          </a:stretch>
        </p:blipFill>
        <p:spPr>
          <a:xfrm>
            <a:off x="6553651" y="2570327"/>
            <a:ext cx="5639546" cy="4289801"/>
          </a:xfrm>
          <a:prstGeom prst="rect">
            <a:avLst/>
          </a:prstGeom>
        </p:spPr>
      </p:pic>
      <p:sp>
        <p:nvSpPr>
          <p:cNvPr id="18" name="name_04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Centralize"/>
          <p:cNvSpPr/>
          <p:nvPr/>
        </p:nvSpPr>
        <p:spPr>
          <a:xfrm rot="-600">
            <a:off x="762149" y="849072"/>
            <a:ext cx="3038538" cy="36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CENTRALIZE</a:t>
            </a:r>
            <a:endParaRPr lang="en-US" sz="4050" dirty="0"/>
          </a:p>
        </p:txBody>
      </p:sp>
      <p:sp>
        <p:nvSpPr>
          <p:cNvPr id="20" name="Recall Coordinator"/>
          <p:cNvSpPr/>
          <p:nvPr/>
        </p:nvSpPr>
        <p:spPr>
          <a:xfrm rot="-600">
            <a:off x="1726913" y="2045862"/>
            <a:ext cx="2695603" cy="162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COORDINATOR: </a:t>
            </a:r>
            <a:endParaRPr lang="en-US" sz="1800" dirty="0"/>
          </a:p>
        </p:txBody>
      </p:sp>
      <p:sp>
        <p:nvSpPr>
          <p:cNvPr id="21" name="Tier 1"/>
          <p:cNvSpPr/>
          <p:nvPr/>
        </p:nvSpPr>
        <p:spPr>
          <a:xfrm rot="-600">
            <a:off x="1726876" y="1840201"/>
            <a:ext cx="438168" cy="104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1</a:t>
            </a:r>
            <a:endParaRPr lang="en-US" sz="1200" dirty="0"/>
          </a:p>
        </p:txBody>
      </p:sp>
      <p:sp>
        <p:nvSpPr>
          <p:cNvPr id="22" name="Manages department inventory checks closes recalls"/>
          <p:cNvSpPr/>
          <p:nvPr/>
        </p:nvSpPr>
        <p:spPr>
          <a:xfrm rot="-600">
            <a:off x="952946" y="2557441"/>
            <a:ext cx="4703939" cy="1246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Manages department inventory checks, closes recalls</a:t>
            </a:r>
            <a:endParaRPr lang="en-US" sz="1350" dirty="0"/>
          </a:p>
        </p:txBody>
      </p:sp>
      <p:sp>
        <p:nvSpPr>
          <p:cNvPr id="23" name="Recall Manager"/>
          <p:cNvSpPr/>
          <p:nvPr/>
        </p:nvSpPr>
        <p:spPr>
          <a:xfrm rot="-600">
            <a:off x="1727183" y="3585998"/>
            <a:ext cx="2124103" cy="162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MANAGER:</a:t>
            </a:r>
            <a:endParaRPr lang="en-US" sz="1800" dirty="0"/>
          </a:p>
        </p:txBody>
      </p:sp>
      <p:sp>
        <p:nvSpPr>
          <p:cNvPr id="24" name="Tier 2"/>
          <p:cNvSpPr/>
          <p:nvPr/>
        </p:nvSpPr>
        <p:spPr>
          <a:xfrm rot="-600">
            <a:off x="1727146" y="3386254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2</a:t>
            </a:r>
            <a:endParaRPr lang="en-US" sz="1200" dirty="0"/>
          </a:p>
        </p:txBody>
      </p:sp>
      <p:sp>
        <p:nvSpPr>
          <p:cNvPr id="25" name="Can re-route recalls manage users close recalls for other departments"/>
          <p:cNvSpPr/>
          <p:nvPr/>
        </p:nvSpPr>
        <p:spPr>
          <a:xfrm rot="-600">
            <a:off x="953216" y="4100233"/>
            <a:ext cx="6251101" cy="124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Can re-route recalls, manage users, close recalls for other departments</a:t>
            </a:r>
            <a:endParaRPr lang="en-US" sz="1350" dirty="0"/>
          </a:p>
        </p:txBody>
      </p:sp>
      <p:sp>
        <p:nvSpPr>
          <p:cNvPr id="26" name="Administrator"/>
          <p:cNvSpPr/>
          <p:nvPr/>
        </p:nvSpPr>
        <p:spPr>
          <a:xfrm rot="-600">
            <a:off x="1727448" y="5129072"/>
            <a:ext cx="1962178" cy="162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ADMINISTRATOR:</a:t>
            </a:r>
            <a:endParaRPr lang="en-US" sz="1800" dirty="0"/>
          </a:p>
        </p:txBody>
      </p:sp>
      <p:sp>
        <p:nvSpPr>
          <p:cNvPr id="27" name="Tier 3"/>
          <p:cNvSpPr/>
          <p:nvPr/>
        </p:nvSpPr>
        <p:spPr>
          <a:xfrm rot="-600">
            <a:off x="1727415" y="4929302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3</a:t>
            </a:r>
            <a:endParaRPr lang="en-US" sz="1200" dirty="0"/>
          </a:p>
        </p:txBody>
      </p:sp>
      <p:sp>
        <p:nvSpPr>
          <p:cNvPr id="28" name="Oversees escalates manages usersdepartments accesses full reporting"/>
          <p:cNvSpPr/>
          <p:nvPr/>
        </p:nvSpPr>
        <p:spPr>
          <a:xfrm rot="-600">
            <a:off x="953486" y="5643204"/>
            <a:ext cx="6655839" cy="124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Oversees, escalates, manages users/departments, accesses full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84866" cy="6850603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801201" cy="2345371"/>
          </a:xfrm>
          <a:prstGeom prst="rect">
            <a:avLst/>
          </a:prstGeom>
        </p:spPr>
      </p:pic>
      <p:pic>
        <p:nvPicPr>
          <p:cNvPr id="5" name="Layer_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373363" y="4346779"/>
            <a:ext cx="2819834" cy="2513349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1381362" y="1364937"/>
            <a:ext cx="3334348" cy="17156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525814" y="1510565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695143" y="1707309"/>
            <a:ext cx="333478" cy="295391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551273" y="1536035"/>
            <a:ext cx="623888" cy="623888"/>
          </a:xfrm>
          <a:prstGeom prst="rect">
            <a:avLst/>
          </a:prstGeom>
        </p:spPr>
      </p:pic>
      <p:pic>
        <p:nvPicPr>
          <p:cNvPr id="10" name="Ellipse 1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11" name="Rectangle 6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4429613" y="2793155"/>
            <a:ext cx="3334348" cy="1715664"/>
          </a:xfrm>
          <a:prstGeom prst="rect">
            <a:avLst/>
          </a:prstGeom>
        </p:spPr>
      </p:pic>
      <p:pic>
        <p:nvPicPr>
          <p:cNvPr id="12" name="Ellips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575251" y="2936932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4767723" y="3126242"/>
            <a:ext cx="285853" cy="295375"/>
          </a:xfrm>
          <a:prstGeom prst="rect">
            <a:avLst/>
          </a:prstGeom>
        </p:spPr>
      </p:pic>
      <p:pic>
        <p:nvPicPr>
          <p:cNvPr id="14" name="Ellipse 15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00710" y="2962402"/>
            <a:ext cx="623888" cy="623888"/>
          </a:xfrm>
          <a:prstGeom prst="rect">
            <a:avLst/>
          </a:prstGeom>
        </p:spPr>
      </p:pic>
      <p:pic>
        <p:nvPicPr>
          <p:cNvPr id="15" name="Rectangle 7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477860" y="4221374"/>
            <a:ext cx="3334348" cy="1715664"/>
          </a:xfrm>
          <a:prstGeom prst="rect">
            <a:avLst/>
          </a:prstGeom>
        </p:spPr>
      </p:pic>
      <p:pic>
        <p:nvPicPr>
          <p:cNvPr id="16" name="Rectangle 9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477362" y="1363873"/>
            <a:ext cx="3334348" cy="1715664"/>
          </a:xfrm>
          <a:prstGeom prst="rect">
            <a:avLst/>
          </a:prstGeom>
        </p:spPr>
      </p:pic>
      <p:pic>
        <p:nvPicPr>
          <p:cNvPr id="17" name="Rectangle 8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381860" y="4222437"/>
            <a:ext cx="3334348" cy="1715664"/>
          </a:xfrm>
          <a:prstGeom prst="rect">
            <a:avLst/>
          </a:prstGeom>
        </p:spPr>
      </p:pic>
      <p:pic>
        <p:nvPicPr>
          <p:cNvPr id="18" name="Ellipse 10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1526311" y="4369757"/>
            <a:ext cx="676511" cy="67651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709524" y="4556517"/>
            <a:ext cx="295378" cy="295378"/>
          </a:xfrm>
          <a:prstGeom prst="rect">
            <a:avLst/>
          </a:prstGeom>
        </p:spPr>
      </p:pic>
      <p:pic>
        <p:nvPicPr>
          <p:cNvPr id="20" name="Ellipse 8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625790" y="1509500"/>
            <a:ext cx="676511" cy="676511"/>
          </a:xfrm>
          <a:prstGeom prst="rect">
            <a:avLst/>
          </a:prstGeom>
        </p:spPr>
      </p:pic>
      <p:pic>
        <p:nvPicPr>
          <p:cNvPr id="21" name="Group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14081" y="1702653"/>
            <a:ext cx="295375" cy="285853"/>
          </a:xfrm>
          <a:prstGeom prst="rect">
            <a:avLst/>
          </a:prstGeom>
        </p:spPr>
      </p:pic>
      <p:pic>
        <p:nvPicPr>
          <p:cNvPr id="22" name="Ellipse 11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626288" y="4368692"/>
            <a:ext cx="676511" cy="676511"/>
          </a:xfrm>
          <a:prstGeom prst="rect">
            <a:avLst/>
          </a:prstGeom>
        </p:spPr>
      </p:pic>
      <p:pic>
        <p:nvPicPr>
          <p:cNvPr id="23" name="Group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7784004" y="4543825"/>
            <a:ext cx="362063" cy="323976"/>
          </a:xfrm>
          <a:prstGeom prst="rect">
            <a:avLst/>
          </a:prstGeom>
        </p:spPr>
      </p:pic>
      <p:pic>
        <p:nvPicPr>
          <p:cNvPr id="24" name="Ellipse 12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551770" y="4395225"/>
            <a:ext cx="623888" cy="623888"/>
          </a:xfrm>
          <a:prstGeom prst="rect">
            <a:avLst/>
          </a:prstGeom>
        </p:spPr>
      </p:pic>
      <p:pic>
        <p:nvPicPr>
          <p:cNvPr id="25" name="Ellipse 9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651249" y="1534970"/>
            <a:ext cx="623888" cy="623888"/>
          </a:xfrm>
          <a:prstGeom prst="rect">
            <a:avLst/>
          </a:prstGeom>
        </p:spPr>
      </p:pic>
      <p:pic>
        <p:nvPicPr>
          <p:cNvPr id="26" name="Ellipse 13" descr="preencoded.png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7651747" y="4394160"/>
            <a:ext cx="623888" cy="623888"/>
          </a:xfrm>
          <a:prstGeom prst="rect">
            <a:avLst/>
          </a:prstGeom>
        </p:spPr>
      </p:pic>
      <p:sp>
        <p:nvSpPr>
          <p:cNvPr id="27" name="FDA Matching"/>
          <p:cNvSpPr/>
          <p:nvPr/>
        </p:nvSpPr>
        <p:spPr>
          <a:xfrm rot="-600">
            <a:off x="2296567" y="1780106"/>
            <a:ext cx="1504973" cy="1336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FDA MATCHING</a:t>
            </a:r>
            <a:endParaRPr lang="en-US" sz="1500" dirty="0"/>
          </a:p>
        </p:txBody>
      </p:sp>
      <p:sp>
        <p:nvSpPr>
          <p:cNvPr id="28" name="name_05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29" name="Streamline"/>
          <p:cNvSpPr/>
          <p:nvPr/>
        </p:nvSpPr>
        <p:spPr>
          <a:xfrm rot="-600">
            <a:off x="4586385" y="572301"/>
            <a:ext cx="3133788" cy="362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STREAMLINE</a:t>
            </a:r>
            <a:endParaRPr lang="en-US" sz="4050" dirty="0"/>
          </a:p>
        </p:txBody>
      </p:sp>
      <p:sp>
        <p:nvSpPr>
          <p:cNvPr id="30" name="Custom Escalations"/>
          <p:cNvSpPr/>
          <p:nvPr/>
        </p:nvSpPr>
        <p:spPr>
          <a:xfrm rot="-600">
            <a:off x="5344083" y="3206351"/>
            <a:ext cx="2228873" cy="133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CUSTOM ESCALATIONS</a:t>
            </a:r>
            <a:endParaRPr lang="en-US" sz="1500" dirty="0"/>
          </a:p>
        </p:txBody>
      </p:sp>
      <p:sp>
        <p:nvSpPr>
          <p:cNvPr id="31" name="AI-Driven reports"/>
          <p:cNvSpPr/>
          <p:nvPr/>
        </p:nvSpPr>
        <p:spPr>
          <a:xfrm rot="-600">
            <a:off x="2297064" y="4639225"/>
            <a:ext cx="1914548" cy="1336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AI-DRIVEN REPORTS</a:t>
            </a:r>
            <a:endParaRPr lang="en-US" sz="1500" dirty="0"/>
          </a:p>
        </p:txBody>
      </p:sp>
      <p:sp>
        <p:nvSpPr>
          <p:cNvPr id="32" name="Processing Speed"/>
          <p:cNvSpPr/>
          <p:nvPr/>
        </p:nvSpPr>
        <p:spPr>
          <a:xfrm rot="-600">
            <a:off x="8398004" y="4638166"/>
            <a:ext cx="1876448" cy="13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PROCESSING SPEED</a:t>
            </a:r>
            <a:endParaRPr lang="en-US" sz="1500" dirty="0"/>
          </a:p>
        </p:txBody>
      </p:sp>
      <p:sp>
        <p:nvSpPr>
          <p:cNvPr id="33" name="Non-FDA Screening"/>
          <p:cNvSpPr/>
          <p:nvPr/>
        </p:nvSpPr>
        <p:spPr>
          <a:xfrm rot="-600">
            <a:off x="8397506" y="1778944"/>
            <a:ext cx="2085998" cy="133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NON-FDA SCREENING</a:t>
            </a:r>
            <a:endParaRPr lang="en-US" sz="1500" dirty="0"/>
          </a:p>
        </p:txBody>
      </p:sp>
      <p:sp>
        <p:nvSpPr>
          <p:cNvPr id="34" name="Automated FDA recall matching against purchase and inventory data"/>
          <p:cNvSpPr/>
          <p:nvPr/>
        </p:nvSpPr>
        <p:spPr>
          <a:xfrm rot="-600">
            <a:off x="1525963" y="2379135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Automated FDA recall matching against purchase and inventory data</a:t>
            </a:r>
            <a:endParaRPr lang="en-US" sz="1125" dirty="0"/>
          </a:p>
        </p:txBody>
      </p:sp>
      <p:sp>
        <p:nvSpPr>
          <p:cNvPr id="35" name="AI-driven reports from top-level insight to granular detail"/>
          <p:cNvSpPr/>
          <p:nvPr/>
        </p:nvSpPr>
        <p:spPr>
          <a:xfrm rot="-600">
            <a:off x="1526460" y="523272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AI-driven reports from top-level insight to granular detail</a:t>
            </a:r>
            <a:endParaRPr lang="en-US" sz="1125" dirty="0"/>
          </a:p>
        </p:txBody>
      </p:sp>
      <p:sp>
        <p:nvSpPr>
          <p:cNvPr id="36" name="Recall processing time reduced by 95"/>
          <p:cNvSpPr/>
          <p:nvPr/>
        </p:nvSpPr>
        <p:spPr>
          <a:xfrm rot="-600">
            <a:off x="7626437" y="5231745"/>
            <a:ext cx="2408796" cy="2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processing time reduced by 95%</a:t>
            </a:r>
            <a:endParaRPr lang="en-US" sz="1125" dirty="0"/>
          </a:p>
        </p:txBody>
      </p:sp>
      <p:sp>
        <p:nvSpPr>
          <p:cNvPr id="37" name="Custom escalation paths department mapping and integrations"/>
          <p:cNvSpPr/>
          <p:nvPr/>
        </p:nvSpPr>
        <p:spPr>
          <a:xfrm rot="-600">
            <a:off x="4575404" y="3799896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 escalation paths, department mapping, and integrations</a:t>
            </a:r>
            <a:endParaRPr lang="en-US" sz="1125" dirty="0"/>
          </a:p>
        </p:txBody>
      </p:sp>
      <p:sp>
        <p:nvSpPr>
          <p:cNvPr id="38" name="Easy upload and screening for non-FDA recalls"/>
          <p:cNvSpPr/>
          <p:nvPr/>
        </p:nvSpPr>
        <p:spPr>
          <a:xfrm rot="-600">
            <a:off x="7625944" y="237807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Easy upload and screening for non-FDA recalls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3471007" y="2117360"/>
            <a:ext cx="676511" cy="676511"/>
          </a:xfrm>
          <a:prstGeom prst="rect">
            <a:avLst/>
          </a:prstGeom>
        </p:spPr>
      </p:pic>
      <p:pic>
        <p:nvPicPr>
          <p:cNvPr id="6" name="Ellips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496470" y="2142830"/>
            <a:ext cx="623888" cy="623888"/>
          </a:xfrm>
          <a:prstGeom prst="rect">
            <a:avLst/>
          </a:prstGeom>
        </p:spPr>
      </p:pic>
      <p:pic>
        <p:nvPicPr>
          <p:cNvPr id="7" name="Ellipse 10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3471397" y="4355656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3646768" y="4544229"/>
            <a:ext cx="323953" cy="295388"/>
          </a:xfrm>
          <a:prstGeom prst="rect">
            <a:avLst/>
          </a:prstGeom>
        </p:spPr>
      </p:pic>
      <p:pic>
        <p:nvPicPr>
          <p:cNvPr id="9" name="Ellips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3496861" y="4381123"/>
            <a:ext cx="623888" cy="623888"/>
          </a:xfrm>
          <a:prstGeom prst="rect">
            <a:avLst/>
          </a:prstGeom>
        </p:spPr>
      </p:pic>
      <p:pic>
        <p:nvPicPr>
          <p:cNvPr id="10" name="Ellips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8048992" y="2116561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8235376" y="2303007"/>
            <a:ext cx="300142" cy="300142"/>
          </a:xfrm>
          <a:prstGeom prst="rect">
            <a:avLst/>
          </a:prstGeom>
        </p:spPr>
      </p:pic>
      <p:pic>
        <p:nvPicPr>
          <p:cNvPr id="12" name="Ellipse 11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8045848" y="4351433"/>
            <a:ext cx="676393" cy="676393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243674" y="4534697"/>
            <a:ext cx="295385" cy="314428"/>
          </a:xfrm>
          <a:prstGeom prst="rect">
            <a:avLst/>
          </a:prstGeom>
        </p:spPr>
      </p:pic>
      <p:pic>
        <p:nvPicPr>
          <p:cNvPr id="14" name="Ellipse 14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38280" y="2102096"/>
            <a:ext cx="2915667" cy="2915667"/>
          </a:xfrm>
          <a:prstGeom prst="rect">
            <a:avLst/>
          </a:prstGeom>
        </p:spPr>
      </p:pic>
      <p:pic>
        <p:nvPicPr>
          <p:cNvPr id="15" name="Frame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5420227" y="2884318"/>
            <a:ext cx="1353022" cy="1353022"/>
          </a:xfrm>
          <a:prstGeom prst="rect">
            <a:avLst/>
          </a:prstGeom>
        </p:spPr>
      </p:pic>
      <p:pic>
        <p:nvPicPr>
          <p:cNvPr id="16" name="Ellipse 1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4762919" y="2226785"/>
            <a:ext cx="2671800" cy="2671800"/>
          </a:xfrm>
          <a:prstGeom prst="rect">
            <a:avLst/>
          </a:prstGeom>
        </p:spPr>
      </p:pic>
      <p:pic>
        <p:nvPicPr>
          <p:cNvPr id="17" name="Vector 1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4138319" y="2437119"/>
            <a:ext cx="609558" cy="649905"/>
          </a:xfrm>
          <a:prstGeom prst="rect">
            <a:avLst/>
          </a:prstGeom>
        </p:spPr>
      </p:pic>
      <p:pic>
        <p:nvPicPr>
          <p:cNvPr id="18" name="Vector 3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4138487" y="4036393"/>
            <a:ext cx="609330" cy="650158"/>
          </a:xfrm>
          <a:prstGeom prst="rect">
            <a:avLst/>
          </a:prstGeom>
        </p:spPr>
      </p:pic>
      <p:pic>
        <p:nvPicPr>
          <p:cNvPr id="19" name="Vector 2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7449796" y="2446117"/>
            <a:ext cx="609330" cy="650056"/>
          </a:xfrm>
          <a:prstGeom prst="rect">
            <a:avLst/>
          </a:prstGeom>
        </p:spPr>
      </p:pic>
      <p:pic>
        <p:nvPicPr>
          <p:cNvPr id="20" name="Vector 4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449959" y="4036019"/>
            <a:ext cx="609442" cy="649928"/>
          </a:xfrm>
          <a:prstGeom prst="rect">
            <a:avLst/>
          </a:prstGeom>
        </p:spPr>
      </p:pic>
      <p:pic>
        <p:nvPicPr>
          <p:cNvPr id="21" name="Ellipse 9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8074456" y="2142031"/>
            <a:ext cx="623888" cy="623888"/>
          </a:xfrm>
          <a:prstGeom prst="rect">
            <a:avLst/>
          </a:prstGeom>
        </p:spPr>
      </p:pic>
      <p:pic>
        <p:nvPicPr>
          <p:cNvPr id="22" name="Ellipse 13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8072944" y="4378533"/>
            <a:ext cx="623888" cy="623888"/>
          </a:xfrm>
          <a:prstGeom prst="rect">
            <a:avLst/>
          </a:prstGeom>
        </p:spPr>
      </p:pic>
      <p:pic>
        <p:nvPicPr>
          <p:cNvPr id="23" name="Layer_1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372474" cy="2050104"/>
          </a:xfrm>
          <a:prstGeom prst="rect">
            <a:avLst/>
          </a:prstGeom>
        </p:spPr>
      </p:pic>
      <p:pic>
        <p:nvPicPr>
          <p:cNvPr id="24" name="Layer_1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9820247" y="0"/>
            <a:ext cx="2372950" cy="2048289"/>
          </a:xfrm>
          <a:prstGeom prst="rect">
            <a:avLst/>
          </a:prstGeom>
        </p:spPr>
      </p:pic>
      <p:pic>
        <p:nvPicPr>
          <p:cNvPr id="25" name="Group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3641257" y="2306245"/>
            <a:ext cx="295378" cy="295378"/>
          </a:xfrm>
          <a:prstGeom prst="rect">
            <a:avLst/>
          </a:prstGeom>
        </p:spPr>
      </p:pic>
      <p:sp>
        <p:nvSpPr>
          <p:cNvPr id="26" name="name_06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06</a:t>
            </a:r>
            <a:endParaRPr lang="en-US" sz="1350" dirty="0"/>
          </a:p>
        </p:txBody>
      </p:sp>
      <p:sp>
        <p:nvSpPr>
          <p:cNvPr id="27" name="Results  ROI"/>
          <p:cNvSpPr/>
          <p:nvPr/>
        </p:nvSpPr>
        <p:spPr>
          <a:xfrm rot="-600">
            <a:off x="4286455" y="1164896"/>
            <a:ext cx="3743388" cy="3625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RESULTS &amp;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ROI</a:t>
            </a:r>
            <a:endParaRPr lang="en-US" sz="4050" dirty="0"/>
          </a:p>
        </p:txBody>
      </p:sp>
      <p:sp>
        <p:nvSpPr>
          <p:cNvPr id="28" name="reporting"/>
          <p:cNvSpPr/>
          <p:nvPr/>
        </p:nvSpPr>
        <p:spPr>
          <a:xfrm rot="-600">
            <a:off x="2283372" y="2387312"/>
            <a:ext cx="1095398" cy="1335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29" name="exposure risk"/>
          <p:cNvSpPr/>
          <p:nvPr/>
        </p:nvSpPr>
        <p:spPr>
          <a:xfrm rot="-600">
            <a:off x="1912288" y="4625605"/>
            <a:ext cx="1476398" cy="133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EXPOSURE RISK</a:t>
            </a:r>
            <a:endParaRPr lang="en-US" sz="1500" dirty="0"/>
          </a:p>
        </p:txBody>
      </p:sp>
      <p:sp>
        <p:nvSpPr>
          <p:cNvPr id="30" name="Centralized dashboard and reporting for full oversight"/>
          <p:cNvSpPr/>
          <p:nvPr/>
        </p:nvSpPr>
        <p:spPr>
          <a:xfrm rot="-600">
            <a:off x="1200150" y="2986320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Centralized dashboard and reporting for full oversight</a:t>
            </a:r>
            <a:endParaRPr lang="en-US" sz="1125" dirty="0"/>
          </a:p>
        </p:txBody>
      </p:sp>
      <p:sp>
        <p:nvSpPr>
          <p:cNvPr id="31" name="Cuts costs by reducing recall labor and exposure risk"/>
          <p:cNvSpPr/>
          <p:nvPr/>
        </p:nvSpPr>
        <p:spPr>
          <a:xfrm rot="-600">
            <a:off x="1219200" y="5219007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Cuts costs by reducing recall labor and exposure risk</a:t>
            </a:r>
            <a:b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125" dirty="0"/>
          </a:p>
        </p:txBody>
      </p:sp>
      <p:sp>
        <p:nvSpPr>
          <p:cNvPr id="32" name="reputation"/>
          <p:cNvSpPr/>
          <p:nvPr/>
        </p:nvSpPr>
        <p:spPr>
          <a:xfrm rot="-600">
            <a:off x="8821103" y="4624445"/>
            <a:ext cx="1200173" cy="1335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REPUTATION</a:t>
            </a:r>
            <a:endParaRPr lang="en-US" sz="1500" dirty="0"/>
          </a:p>
        </p:txBody>
      </p:sp>
      <p:sp>
        <p:nvSpPr>
          <p:cNvPr id="33" name="identification"/>
          <p:cNvSpPr/>
          <p:nvPr/>
        </p:nvSpPr>
        <p:spPr>
          <a:xfrm rot="-600">
            <a:off x="8820713" y="2386100"/>
            <a:ext cx="1514498" cy="133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500" dirty="0"/>
          </a:p>
        </p:txBody>
      </p:sp>
      <p:sp>
        <p:nvSpPr>
          <p:cNvPr id="34" name="Protects brand reputation and saves lives"/>
          <p:cNvSpPr/>
          <p:nvPr/>
        </p:nvSpPr>
        <p:spPr>
          <a:xfrm rot="-600">
            <a:off x="8049537" y="5217909"/>
            <a:ext cx="2408829" cy="476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Protects brand reputation and saves lives
</a:t>
            </a:r>
            <a:endParaRPr lang="en-US" sz="1125" dirty="0"/>
          </a:p>
        </p:txBody>
      </p:sp>
      <p:sp>
        <p:nvSpPr>
          <p:cNvPr id="35" name="Saves time by accelerating identification and removal of harmful products"/>
          <p:cNvSpPr/>
          <p:nvPr/>
        </p:nvSpPr>
        <p:spPr>
          <a:xfrm rot="-600">
            <a:off x="8049146" y="2985132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Saves time by accelerating identification and removal of harmful products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7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0" y="4163409"/>
            <a:ext cx="2992516" cy="2696719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0248900" y="0"/>
            <a:ext cx="1944297" cy="1905338"/>
          </a:xfrm>
          <a:prstGeom prst="rect">
            <a:avLst/>
          </a:prstGeom>
        </p:spPr>
      </p:pic>
      <p:pic>
        <p:nvPicPr>
          <p:cNvPr id="5" name="Ellipse 1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88043" y="3009159"/>
            <a:ext cx="3905154" cy="3850968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05191" y="1800205"/>
            <a:ext cx="3334415" cy="19061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49643" y="1945833"/>
            <a:ext cx="676511" cy="676511"/>
          </a:xfrm>
          <a:prstGeom prst="rect">
            <a:avLst/>
          </a:prstGeom>
        </p:spPr>
      </p:pic>
      <p:pic>
        <p:nvPicPr>
          <p:cNvPr id="8" name="Frame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238622" y="2135402"/>
            <a:ext cx="314437" cy="314435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075102" y="1971304"/>
            <a:ext cx="623883" cy="623888"/>
          </a:xfrm>
          <a:prstGeom prst="rect">
            <a:avLst/>
          </a:prstGeom>
        </p:spPr>
      </p:pic>
      <p:pic>
        <p:nvPicPr>
          <p:cNvPr id="10" name="Rectangl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4429441" y="1799590"/>
            <a:ext cx="3334415" cy="1906164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4573888" y="1945218"/>
            <a:ext cx="676511" cy="676511"/>
          </a:xfrm>
          <a:prstGeom prst="rect">
            <a:avLst/>
          </a:prstGeom>
        </p:spPr>
      </p:pic>
      <p:pic>
        <p:nvPicPr>
          <p:cNvPr id="12" name="Group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4787698" y="2128453"/>
            <a:ext cx="247756" cy="304886"/>
          </a:xfrm>
          <a:prstGeom prst="rect">
            <a:avLst/>
          </a:prstGeom>
        </p:spPr>
      </p:pic>
      <p:pic>
        <p:nvPicPr>
          <p:cNvPr id="13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4599347" y="1970689"/>
            <a:ext cx="623888" cy="623888"/>
          </a:xfrm>
          <a:prstGeom prst="rect">
            <a:avLst/>
          </a:prstGeom>
        </p:spPr>
      </p:pic>
      <p:pic>
        <p:nvPicPr>
          <p:cNvPr id="14" name="Rectangle 10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7953691" y="1798975"/>
            <a:ext cx="3334415" cy="1906164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098138" y="1944603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266947" y="2126511"/>
            <a:ext cx="333481" cy="304916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123597" y="1970074"/>
            <a:ext cx="623888" cy="623888"/>
          </a:xfrm>
          <a:prstGeom prst="rect">
            <a:avLst/>
          </a:prstGeom>
        </p:spPr>
      </p:pic>
      <p:pic>
        <p:nvPicPr>
          <p:cNvPr id="18" name="Rectangle 10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905554" y="3899496"/>
            <a:ext cx="3334415" cy="1906164"/>
          </a:xfrm>
          <a:prstGeom prst="rect">
            <a:avLst/>
          </a:prstGeom>
        </p:spPr>
      </p:pic>
      <p:pic>
        <p:nvPicPr>
          <p:cNvPr id="19" name="Ellipse 3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1050006" y="4045124"/>
            <a:ext cx="676511" cy="676511"/>
          </a:xfrm>
          <a:prstGeom prst="rect">
            <a:avLst/>
          </a:prstGeom>
        </p:spPr>
      </p:pic>
      <p:pic>
        <p:nvPicPr>
          <p:cNvPr id="20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1253147" y="4221582"/>
            <a:ext cx="266800" cy="285843"/>
          </a:xfrm>
          <a:prstGeom prst="rect">
            <a:avLst/>
          </a:prstGeom>
        </p:spPr>
      </p:pic>
      <p:pic>
        <p:nvPicPr>
          <p:cNvPr id="21" name="Ellipse 7" descr="preencoded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>
          <a:xfrm>
            <a:off x="1075469" y="4070596"/>
            <a:ext cx="623888" cy="623888"/>
          </a:xfrm>
          <a:prstGeom prst="rect">
            <a:avLst/>
          </a:prstGeom>
        </p:spPr>
      </p:pic>
      <p:pic>
        <p:nvPicPr>
          <p:cNvPr id="22" name="Rectangle 10" descr="preencoded.png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4429804" y="3898883"/>
            <a:ext cx="3334415" cy="1906164"/>
          </a:xfrm>
          <a:prstGeom prst="rect">
            <a:avLst/>
          </a:prstGeom>
        </p:spPr>
      </p:pic>
      <p:pic>
        <p:nvPicPr>
          <p:cNvPr id="23" name="Ellipse 3" descr="preencoded.png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4574260" y="4044510"/>
            <a:ext cx="676511" cy="676511"/>
          </a:xfrm>
          <a:prstGeom prst="rect">
            <a:avLst/>
          </a:prstGeom>
        </p:spPr>
      </p:pic>
      <p:pic>
        <p:nvPicPr>
          <p:cNvPr id="24" name="Group" descr="preencoded.png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>
          <a:xfrm>
            <a:off x="4760640" y="4230959"/>
            <a:ext cx="300142" cy="300142"/>
          </a:xfrm>
          <a:prstGeom prst="rect">
            <a:avLst/>
          </a:prstGeom>
        </p:spPr>
      </p:pic>
      <p:pic>
        <p:nvPicPr>
          <p:cNvPr id="25" name="Ellipse 7" descr="preencoded.png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>
          <a:xfrm>
            <a:off x="4599710" y="4069980"/>
            <a:ext cx="623888" cy="623888"/>
          </a:xfrm>
          <a:prstGeom prst="rect">
            <a:avLst/>
          </a:prstGeom>
        </p:spPr>
      </p:pic>
      <p:pic>
        <p:nvPicPr>
          <p:cNvPr id="26" name="Rectangle 10" descr="preencoded.png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7954054" y="3898266"/>
            <a:ext cx="3334415" cy="1906164"/>
          </a:xfrm>
          <a:prstGeom prst="rect">
            <a:avLst/>
          </a:prstGeom>
        </p:spPr>
      </p:pic>
      <p:pic>
        <p:nvPicPr>
          <p:cNvPr id="27" name="Ellipse 3" descr="preencoded.png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>
          <a:xfrm>
            <a:off x="8098510" y="4043893"/>
            <a:ext cx="676511" cy="676511"/>
          </a:xfrm>
          <a:prstGeom prst="rect">
            <a:avLst/>
          </a:prstGeom>
        </p:spPr>
      </p:pic>
      <p:pic>
        <p:nvPicPr>
          <p:cNvPr id="28" name="Group" descr="preencoded.png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8277960" y="4220762"/>
            <a:ext cx="314435" cy="314435"/>
          </a:xfrm>
          <a:prstGeom prst="rect">
            <a:avLst/>
          </a:prstGeom>
        </p:spPr>
      </p:pic>
      <p:pic>
        <p:nvPicPr>
          <p:cNvPr id="29" name="Ellipse 7" descr="preencoded.png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>
          <a:xfrm>
            <a:off x="8123960" y="4069366"/>
            <a:ext cx="623888" cy="623888"/>
          </a:xfrm>
          <a:prstGeom prst="rect">
            <a:avLst/>
          </a:prstGeom>
        </p:spPr>
      </p:pic>
      <p:sp>
        <p:nvSpPr>
          <p:cNvPr id="30" name="name_05"/>
          <p:cNvSpPr/>
          <p:nvPr/>
        </p:nvSpPr>
        <p:spPr>
          <a:xfrm rot="-600">
            <a:off x="11223734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31" name="On The Horizon New Features"/>
          <p:cNvSpPr/>
          <p:nvPr/>
        </p:nvSpPr>
        <p:spPr>
          <a:xfrm rot="-600">
            <a:off x="1971842" y="959404"/>
            <a:ext cx="8524938" cy="363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 THE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HORIZON: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NEW FEATURES</a:t>
            </a:r>
            <a:endParaRPr lang="en-US" sz="4050" dirty="0"/>
          </a:p>
        </p:txBody>
      </p:sp>
      <p:sp>
        <p:nvSpPr>
          <p:cNvPr id="32" name="Communication Tools"/>
          <p:cNvSpPr/>
          <p:nvPr/>
        </p:nvSpPr>
        <p:spPr>
          <a:xfrm rot="-600">
            <a:off x="1820373" y="2086683"/>
            <a:ext cx="2107716" cy="390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COMMUNICATION TOOLS</a:t>
            </a:r>
            <a:endParaRPr lang="en-US" sz="1650" dirty="0"/>
          </a:p>
        </p:txBody>
      </p:sp>
      <p:sp>
        <p:nvSpPr>
          <p:cNvPr id="33" name="Internal and external communication tools automated or manual"/>
          <p:cNvSpPr/>
          <p:nvPr/>
        </p:nvSpPr>
        <p:spPr>
          <a:xfrm rot="-600">
            <a:off x="1049796" y="2814388"/>
            <a:ext cx="3009478" cy="6196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Internal and external communication tools (automated or manual)</a:t>
            </a:r>
            <a:endParaRPr lang="en-US" sz="1350" dirty="0"/>
          </a:p>
        </p:txBody>
      </p:sp>
      <p:sp>
        <p:nvSpPr>
          <p:cNvPr id="34" name="PDF Response Forms"/>
          <p:cNvSpPr/>
          <p:nvPr/>
        </p:nvSpPr>
        <p:spPr>
          <a:xfrm rot="-600">
            <a:off x="5344623" y="2086146"/>
            <a:ext cx="1655651" cy="3908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PDF RESPONSE FORMS</a:t>
            </a:r>
            <a:endParaRPr lang="en-US" sz="1650" dirty="0"/>
          </a:p>
        </p:txBody>
      </p:sp>
      <p:sp>
        <p:nvSpPr>
          <p:cNvPr id="35" name="Auto-generated PDF recall response forms"/>
          <p:cNvSpPr/>
          <p:nvPr/>
        </p:nvSpPr>
        <p:spPr>
          <a:xfrm rot="-600">
            <a:off x="4574046" y="2813788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Auto-generated PDF recall response forms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6" name="AI-Product ID"/>
          <p:cNvSpPr/>
          <p:nvPr/>
        </p:nvSpPr>
        <p:spPr>
          <a:xfrm rot="-600">
            <a:off x="8868891" y="2209358"/>
            <a:ext cx="1638325" cy="1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AI-PRODUCT ID</a:t>
            </a:r>
            <a:endParaRPr lang="en-US" sz="1650" dirty="0"/>
          </a:p>
        </p:txBody>
      </p:sp>
      <p:sp>
        <p:nvSpPr>
          <p:cNvPr id="37" name="Email templates and action playbooks"/>
          <p:cNvSpPr/>
          <p:nvPr/>
        </p:nvSpPr>
        <p:spPr>
          <a:xfrm rot="-600">
            <a:off x="8098296" y="2813173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Email templates and action playbooks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8" name="Alert Ticketing"/>
          <p:cNvSpPr/>
          <p:nvPr/>
        </p:nvSpPr>
        <p:spPr>
          <a:xfrm rot="-600">
            <a:off x="1820763" y="4309855"/>
            <a:ext cx="1790725" cy="143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ALERT TICKETING</a:t>
            </a:r>
            <a:endParaRPr lang="en-US" sz="1650" dirty="0"/>
          </a:p>
        </p:txBody>
      </p:sp>
      <p:sp>
        <p:nvSpPr>
          <p:cNvPr id="39" name="AI-powered product identification and reconciliation"/>
          <p:cNvSpPr/>
          <p:nvPr/>
        </p:nvSpPr>
        <p:spPr>
          <a:xfrm rot="-600">
            <a:off x="1050159" y="491369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AI-powered product identification and reconciliation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0" name="identification"/>
          <p:cNvSpPr/>
          <p:nvPr/>
        </p:nvSpPr>
        <p:spPr>
          <a:xfrm rot="-600">
            <a:off x="5345013" y="4309262"/>
            <a:ext cx="1657375" cy="1431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650" dirty="0"/>
          </a:p>
        </p:txBody>
      </p:sp>
      <p:sp>
        <p:nvSpPr>
          <p:cNvPr id="41" name="Recall alert ticket system for awareness and streamlined tracking"/>
          <p:cNvSpPr/>
          <p:nvPr/>
        </p:nvSpPr>
        <p:spPr>
          <a:xfrm rot="-600">
            <a:off x="4574409" y="4913082"/>
            <a:ext cx="2922778" cy="867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“alert ticket” system for awareness and streamlined tracking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2" name="RFID Integration"/>
          <p:cNvSpPr/>
          <p:nvPr/>
        </p:nvSpPr>
        <p:spPr>
          <a:xfrm rot="-600">
            <a:off x="8869263" y="4308600"/>
            <a:ext cx="1933600" cy="143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RFID INTEGRATION</a:t>
            </a:r>
            <a:endParaRPr lang="en-US" sz="1650" dirty="0"/>
          </a:p>
        </p:txBody>
      </p:sp>
      <p:sp>
        <p:nvSpPr>
          <p:cNvPr id="43" name="RFID scanner integration for real-time inventory validation"/>
          <p:cNvSpPr/>
          <p:nvPr/>
        </p:nvSpPr>
        <p:spPr>
          <a:xfrm rot="-600">
            <a:off x="8098659" y="491246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RFID scanner integration for real-time inventory validation
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323</Words>
  <Application>Microsoft Macintosh PowerPoint</Application>
  <PresentationFormat>Widescreen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Poppins Medium</vt:lpstr>
      <vt:lpstr>Poppins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Charles Conterelli</cp:lastModifiedBy>
  <cp:revision>2</cp:revision>
  <dcterms:created xsi:type="dcterms:W3CDTF">2025-08-15T12:38:00Z</dcterms:created>
  <dcterms:modified xsi:type="dcterms:W3CDTF">2025-08-15T13:04:29Z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6BFA0C89C9F04268A5581CC7462F6CE1_12</vt:lpwstr>
  </property>
  <property fmtid="{D5CDD505-2E9C-101B-9397-08002B2CF9AE}" pid="3" name="KSOProductBuildVer">
    <vt:lpwstr>1033-12.2.0.21931</vt:lpwstr>
  </property>
</Properties>
</file>