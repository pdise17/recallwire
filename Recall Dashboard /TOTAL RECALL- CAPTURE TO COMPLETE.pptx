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689"/>
  </p:normalViewPr>
  <p:slideViewPr>
    <p:cSldViewPr snapToGrid="0">
      <p:cViewPr varScale="1">
        <p:scale>
          <a:sx n="147" d="100"/>
          <a:sy n="147" d="100"/>
        </p:scale>
        <p:origin x="106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43:57.795"/>
    </inkml:context>
    <inkml:brush xml:id="br0">
      <inkml:brushProperty name="width" value="0.035" units="cm"/>
      <inkml:brushProperty name="height" value="0.035" units="cm"/>
    </inkml:brush>
  </inkml:definitions>
  <inkml:trace contextRef="#ctx0" brushRef="#br0">1 1 24575,'0'16'0,"3"8"0,3 11 0,10 29 0,15 24 0,-5-28 0,3 4 0,9 15 0,2 1 0,-1-9 0,0 1 0,-7-13 0,2 2 0,-2-3 0,5 11 0,0-1 0,11 16 0,2 0 0,-6-11 0,0-2 0,-3-7 0,-1-2 0,-1-1 0,0-2 0,-9-8 0,0-1 0,4 10 0,-2 0 0,-4-7 0,-1 0 0,6 14 0,-1 1 0,-5-17 0,-2-2 0,2 6 0,-1-3 0,12 24 0,-11-16 0,-5-5 0,-5-9 0,1 3 0,-6-14 0,-2 0 0,-4-16 0,-1-1 0,-1-4 0,-2-4 0,0-3 0,-2-6 0,0 0 0,0 0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43:59.278"/>
    </inkml:context>
    <inkml:brush xml:id="br0">
      <inkml:brushProperty name="width" value="0.035" units="cm"/>
      <inkml:brushProperty name="height" value="0.035" units="cm"/>
    </inkml:brush>
  </inkml:definitions>
  <inkml:trace contextRef="#ctx0" brushRef="#br0">0 0 24575,'24'1'0,"11"-1"0,27 4 0,29 5 0,-3 3 0,-34-2 0,-2 0 0,28 9 0,-2-2 0,-29-7 0,-10-5 0,-17-4 0,-1-1 0,-9 0 0,1-1 0,-9-3 0,1-2 0,1 0 0,-2 2 0,-2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44:01.529"/>
    </inkml:context>
    <inkml:brush xml:id="br0">
      <inkml:brushProperty name="width" value="0.035" units="cm"/>
      <inkml:brushProperty name="height" value="0.035" units="cm"/>
    </inkml:brush>
  </inkml:definitions>
  <inkml:trace contextRef="#ctx0" brushRef="#br0">1 2424 24575,'2'-13'0,"5"-5"0,3-2 0,5-5 0,12-14 0,-4 4 0,14-22 0,-5 7 0,10-14 0,6-4 0,-18 27 0,1-1 0,21-28 0,-2-2 0,-14 14 0,-8 7 0,-2 1 0,-1 5 0,-1 3 0,3-9 0,-1-2 0,2-5 0,-2 4 0,9-8 0,-9 15 0,12-18 0,-6-2 0,2-8 0,4-11 0,-5 13 0,10-9 0,-7 16 0,2-9 0,-13 23 0,-2-3 0,-3 9 0,-1 1 0,1-1 0,-4 9 0,0 0 0,-3 7 0,-1 0 0,-3 6 0,0-8 0,3-2 0,1-1 0,2 1 0,-4 12 0,-3 1 0,-3 8 0,0-10 0,-2 11 0,0-3 0,-2 11 0,0 2 0,-1 1 0,0 1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ABC96-DA12-6DE3-9687-87C8B9907E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A18EFA-A8B6-B2D2-9980-70C34AF0CF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11DB7B-ABD4-A341-F7B9-4D5A50042DAF}"/>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C17E38CC-8840-CA6E-9FA4-5A659A5BCC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01BE8-FC0D-CF5B-A5FD-7206DF22C066}"/>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53493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F688-E3A1-6D91-AA8C-F4D7EE5AE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EC0D96-C31A-4966-266D-B2A7C0444C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791857-F4EA-A18B-AE41-A5D41B84EB92}"/>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7A3DA841-F9DB-C6DF-404F-36274646D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D7F61-AEED-8BEB-2BA7-C7577D07AA5B}"/>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951879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C0563-4BE1-D61C-601E-869FD933AC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568771-2BCD-5BF4-605D-7380D3BD25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1948BA-A9B0-80DD-AF68-283906B83385}"/>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039F490F-B732-A369-A72F-755D16E4F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F2C277-0437-5F28-5D65-C9E20B3B737E}"/>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3813348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7E6B-B02B-218C-68A4-33B671026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D02EB1-B9DB-94FB-4950-65671478F8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2EDB4-2A86-E30A-9A8D-405602C14E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4984C1-E5D3-8B97-2F4A-F96A9C24FC3B}"/>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6" name="Footer Placeholder 5">
            <a:extLst>
              <a:ext uri="{FF2B5EF4-FFF2-40B4-BE49-F238E27FC236}">
                <a16:creationId xmlns:a16="http://schemas.microsoft.com/office/drawing/2014/main" id="{43C0D98F-E835-AB5F-6BDC-7B5E325850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75DFF1-525B-2B5E-E326-4396C11E16DB}"/>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952217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D61A8-1D83-C250-5F12-E70EB66746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8BF103-9199-801B-B71D-28D05244B9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BED871-A17F-6D68-56D8-AD2630F9B0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C14B11-975C-DFA8-ED14-AC1E1FAC6A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10EAF5-6F8C-DCFC-EE43-4EDFB1AEAC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CCAD29-CEE6-BAE1-8B6D-A326C8B6FF65}"/>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8" name="Footer Placeholder 7">
            <a:extLst>
              <a:ext uri="{FF2B5EF4-FFF2-40B4-BE49-F238E27FC236}">
                <a16:creationId xmlns:a16="http://schemas.microsoft.com/office/drawing/2014/main" id="{8B774633-5DAF-24E8-62DD-DA7954FE28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5BEE56-DEBD-D3AB-7C81-B9D8C0ACF0B9}"/>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438661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BC319-1634-8AA1-C6D9-7F213287CC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95133B-8BD0-E244-D570-37FFE710415B}"/>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4" name="Footer Placeholder 3">
            <a:extLst>
              <a:ext uri="{FF2B5EF4-FFF2-40B4-BE49-F238E27FC236}">
                <a16:creationId xmlns:a16="http://schemas.microsoft.com/office/drawing/2014/main" id="{88C75AA0-0878-BF07-38DA-BE3EBF2DE4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192B0D-AF55-FEF3-C73F-C2D84BDF4ADB}"/>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425689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7E0993-DC76-BB94-DF89-FBBFA8DC1D9A}"/>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3" name="Footer Placeholder 2">
            <a:extLst>
              <a:ext uri="{FF2B5EF4-FFF2-40B4-BE49-F238E27FC236}">
                <a16:creationId xmlns:a16="http://schemas.microsoft.com/office/drawing/2014/main" id="{6BFF3D62-0E16-1F45-EAF2-99991D08F3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DE6D9F-26EC-9E59-4C11-35E445A39DE8}"/>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18848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3278B-5DAC-47FC-BEA8-9FF4D41986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BD3034-4AD1-845C-7698-D528696361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7D1B2A-0AEC-E601-0DEA-693163E3F9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2E341F-324F-717D-F453-6E2EF61A0DA0}"/>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6" name="Footer Placeholder 5">
            <a:extLst>
              <a:ext uri="{FF2B5EF4-FFF2-40B4-BE49-F238E27FC236}">
                <a16:creationId xmlns:a16="http://schemas.microsoft.com/office/drawing/2014/main" id="{4BE6E37B-9202-0634-4375-9DBCFE067F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7B6AE4-5682-E479-A86C-EEADCCB6CF0D}"/>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5549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A0908-CA19-7778-D48E-249DE5B0C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D83014-2285-45B7-865D-9478AA63A1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27DCB1-C0A8-E7C2-E1EA-F75EB49548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2157C5-DB51-F24A-E21C-9479EDDBBA6E}"/>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6" name="Footer Placeholder 5">
            <a:extLst>
              <a:ext uri="{FF2B5EF4-FFF2-40B4-BE49-F238E27FC236}">
                <a16:creationId xmlns:a16="http://schemas.microsoft.com/office/drawing/2014/main" id="{3F08BD5A-5622-D571-682F-111C7A5A78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B6F2CB-2B84-B378-5760-F8675B474A13}"/>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618182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660FF-DBA9-E2E7-A78A-339B4B45D0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15B967-33CF-6A54-7D1F-BDDFB7197C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C2F169-A397-1339-D238-D4447930B36C}"/>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7E228D5B-60BC-ABF4-3835-C25E049B4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360F12-BC23-161E-C20A-A1FB8892BF41}"/>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519213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F8E671-AC8E-C825-7264-4C14C0CA14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7D8351-E611-51BC-BDA1-EEC883E28D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E23868-9440-80A6-6E7D-C7282513B745}"/>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892B25D6-C382-ABBB-B66A-0536A906A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A43115-7868-3C00-8E3E-E1EBF7E4B32C}"/>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2801968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3A1E80-7E17-C08D-D785-AED220DD26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73A530-50DA-05AB-E12D-B72EC89E37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AC851B-E318-90C4-A28F-726D9FB9C6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DAA11782-04C3-AFF3-8B9F-98E9F58CE2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40CCC9E-51BC-C2D4-6DF6-C98599EC1E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A2E61F-EBB6-EE4C-9127-9CEB4535BC63}" type="slidenum">
              <a:rPr lang="en-US" smtClean="0"/>
              <a:t>‹#›</a:t>
            </a:fld>
            <a:endParaRPr lang="en-US"/>
          </a:p>
        </p:txBody>
      </p:sp>
    </p:spTree>
    <p:extLst>
      <p:ext uri="{BB962C8B-B14F-4D97-AF65-F5344CB8AC3E}">
        <p14:creationId xmlns:p14="http://schemas.microsoft.com/office/powerpoint/2010/main" val="302922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1F20761-3A27-BDE4-8F90-A3B06C2E4507}"/>
              </a:ext>
            </a:extLst>
          </p:cNvPr>
          <p:cNvSpPr/>
          <p:nvPr/>
        </p:nvSpPr>
        <p:spPr>
          <a:xfrm>
            <a:off x="451132" y="1125252"/>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FDA WEBSITE</a:t>
            </a:r>
          </a:p>
        </p:txBody>
      </p:sp>
      <p:sp>
        <p:nvSpPr>
          <p:cNvPr id="6" name="Rectangle 5">
            <a:extLst>
              <a:ext uri="{FF2B5EF4-FFF2-40B4-BE49-F238E27FC236}">
                <a16:creationId xmlns:a16="http://schemas.microsoft.com/office/drawing/2014/main" id="{1FE45E7C-3008-392E-EA91-144AAE2FA377}"/>
              </a:ext>
            </a:extLst>
          </p:cNvPr>
          <p:cNvSpPr/>
          <p:nvPr/>
        </p:nvSpPr>
        <p:spPr>
          <a:xfrm>
            <a:off x="451132" y="2361869"/>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VENDOR PDF</a:t>
            </a:r>
          </a:p>
        </p:txBody>
      </p:sp>
      <p:sp>
        <p:nvSpPr>
          <p:cNvPr id="7" name="Rectangle 6">
            <a:extLst>
              <a:ext uri="{FF2B5EF4-FFF2-40B4-BE49-F238E27FC236}">
                <a16:creationId xmlns:a16="http://schemas.microsoft.com/office/drawing/2014/main" id="{4A36E64E-2A15-A1A5-DC18-4EF590796AF1}"/>
              </a:ext>
            </a:extLst>
          </p:cNvPr>
          <p:cNvSpPr/>
          <p:nvPr/>
        </p:nvSpPr>
        <p:spPr>
          <a:xfrm>
            <a:off x="451132" y="3598486"/>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DISTRIBUTOR PDF</a:t>
            </a:r>
          </a:p>
        </p:txBody>
      </p:sp>
      <p:sp>
        <p:nvSpPr>
          <p:cNvPr id="11" name="Rectangle 10">
            <a:extLst>
              <a:ext uri="{FF2B5EF4-FFF2-40B4-BE49-F238E27FC236}">
                <a16:creationId xmlns:a16="http://schemas.microsoft.com/office/drawing/2014/main" id="{77554434-4497-DACF-9741-88855C09A9C0}"/>
              </a:ext>
            </a:extLst>
          </p:cNvPr>
          <p:cNvSpPr/>
          <p:nvPr/>
        </p:nvSpPr>
        <p:spPr>
          <a:xfrm>
            <a:off x="3523354" y="2085834"/>
            <a:ext cx="914400" cy="3426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“RECALL MANAGERS” ARE AUTO-EMAILED WITH PURCHASE ORDER DETAILS ON AFFECTED PRODUCT, ALONG WITH VENDOR PDF, OR FDA SNAPSHOT, CLASSIFYING RECALL BASED ON FDA’S DEFINITONS. </a:t>
            </a:r>
          </a:p>
        </p:txBody>
      </p:sp>
      <p:sp>
        <p:nvSpPr>
          <p:cNvPr id="12" name="TextBox 11">
            <a:extLst>
              <a:ext uri="{FF2B5EF4-FFF2-40B4-BE49-F238E27FC236}">
                <a16:creationId xmlns:a16="http://schemas.microsoft.com/office/drawing/2014/main" id="{FCED9A16-9102-C6C1-3FB4-90E8A79D4B43}"/>
              </a:ext>
            </a:extLst>
          </p:cNvPr>
          <p:cNvSpPr txBox="1"/>
          <p:nvPr/>
        </p:nvSpPr>
        <p:spPr>
          <a:xfrm>
            <a:off x="513806" y="340903"/>
            <a:ext cx="1190967" cy="646331"/>
          </a:xfrm>
          <a:prstGeom prst="rect">
            <a:avLst/>
          </a:prstGeom>
          <a:noFill/>
        </p:spPr>
        <p:txBody>
          <a:bodyPr wrap="none" rtlCol="0">
            <a:spAutoFit/>
          </a:bodyPr>
          <a:lstStyle/>
          <a:p>
            <a:r>
              <a:rPr lang="en-US" dirty="0"/>
              <a:t>CAPTURE </a:t>
            </a:r>
          </a:p>
          <a:p>
            <a:r>
              <a:rPr lang="en-US" dirty="0"/>
              <a:t>RECALL</a:t>
            </a:r>
          </a:p>
        </p:txBody>
      </p:sp>
      <p:grpSp>
        <p:nvGrpSpPr>
          <p:cNvPr id="19" name="Group 18">
            <a:extLst>
              <a:ext uri="{FF2B5EF4-FFF2-40B4-BE49-F238E27FC236}">
                <a16:creationId xmlns:a16="http://schemas.microsoft.com/office/drawing/2014/main" id="{AED4D7C4-7620-268F-9E71-C4E1DA344E1C}"/>
              </a:ext>
            </a:extLst>
          </p:cNvPr>
          <p:cNvGrpSpPr/>
          <p:nvPr/>
        </p:nvGrpSpPr>
        <p:grpSpPr>
          <a:xfrm>
            <a:off x="1712400" y="1693526"/>
            <a:ext cx="468360" cy="2288160"/>
            <a:chOff x="1712400" y="1693526"/>
            <a:chExt cx="468360" cy="2288160"/>
          </a:xfrm>
        </p:grpSpPr>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908236A5-F0CC-659E-414A-432D54F4FE28}"/>
                    </a:ext>
                  </a:extLst>
                </p14:cNvPr>
                <p14:cNvContentPartPr/>
                <p14:nvPr/>
              </p14:nvContentPartPr>
              <p14:xfrm>
                <a:off x="1712400" y="1693526"/>
                <a:ext cx="468000" cy="944640"/>
              </p14:xfrm>
            </p:contentPart>
          </mc:Choice>
          <mc:Fallback>
            <p:pic>
              <p:nvPicPr>
                <p:cNvPr id="13" name="Ink 12">
                  <a:extLst>
                    <a:ext uri="{FF2B5EF4-FFF2-40B4-BE49-F238E27FC236}">
                      <a16:creationId xmlns:a16="http://schemas.microsoft.com/office/drawing/2014/main" id="{908236A5-F0CC-659E-414A-432D54F4FE28}"/>
                    </a:ext>
                  </a:extLst>
                </p:cNvPr>
                <p:cNvPicPr/>
                <p:nvPr/>
              </p:nvPicPr>
              <p:blipFill>
                <a:blip r:embed="rId3"/>
                <a:stretch>
                  <a:fillRect/>
                </a:stretch>
              </p:blipFill>
              <p:spPr>
                <a:xfrm>
                  <a:off x="1706280" y="1687406"/>
                  <a:ext cx="480240" cy="956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58FFF0B0-B32C-E625-F07A-09944EFBE5F2}"/>
                    </a:ext>
                  </a:extLst>
                </p14:cNvPr>
                <p14:cNvContentPartPr/>
                <p14:nvPr/>
              </p14:nvContentPartPr>
              <p14:xfrm>
                <a:off x="1755600" y="2833646"/>
                <a:ext cx="266760" cy="35640"/>
              </p14:xfrm>
            </p:contentPart>
          </mc:Choice>
          <mc:Fallback>
            <p:pic>
              <p:nvPicPr>
                <p:cNvPr id="14" name="Ink 13">
                  <a:extLst>
                    <a:ext uri="{FF2B5EF4-FFF2-40B4-BE49-F238E27FC236}">
                      <a16:creationId xmlns:a16="http://schemas.microsoft.com/office/drawing/2014/main" id="{58FFF0B0-B32C-E625-F07A-09944EFBE5F2}"/>
                    </a:ext>
                  </a:extLst>
                </p:cNvPr>
                <p:cNvPicPr/>
                <p:nvPr/>
              </p:nvPicPr>
              <p:blipFill>
                <a:blip r:embed="rId5"/>
                <a:stretch>
                  <a:fillRect/>
                </a:stretch>
              </p:blipFill>
              <p:spPr>
                <a:xfrm>
                  <a:off x="1749480" y="2827526"/>
                  <a:ext cx="27900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7" name="Ink 16">
                  <a:extLst>
                    <a:ext uri="{FF2B5EF4-FFF2-40B4-BE49-F238E27FC236}">
                      <a16:creationId xmlns:a16="http://schemas.microsoft.com/office/drawing/2014/main" id="{16D9CE09-FC6B-9692-24A8-C748089F524E}"/>
                    </a:ext>
                  </a:extLst>
                </p14:cNvPr>
                <p14:cNvContentPartPr/>
                <p14:nvPr/>
              </p14:nvContentPartPr>
              <p14:xfrm>
                <a:off x="1725360" y="3108686"/>
                <a:ext cx="455400" cy="873000"/>
              </p14:xfrm>
            </p:contentPart>
          </mc:Choice>
          <mc:Fallback>
            <p:pic>
              <p:nvPicPr>
                <p:cNvPr id="17" name="Ink 16">
                  <a:extLst>
                    <a:ext uri="{FF2B5EF4-FFF2-40B4-BE49-F238E27FC236}">
                      <a16:creationId xmlns:a16="http://schemas.microsoft.com/office/drawing/2014/main" id="{16D9CE09-FC6B-9692-24A8-C748089F524E}"/>
                    </a:ext>
                  </a:extLst>
                </p:cNvPr>
                <p:cNvPicPr/>
                <p:nvPr/>
              </p:nvPicPr>
              <p:blipFill>
                <a:blip r:embed="rId7"/>
                <a:stretch>
                  <a:fillRect/>
                </a:stretch>
              </p:blipFill>
              <p:spPr>
                <a:xfrm>
                  <a:off x="1719240" y="3102566"/>
                  <a:ext cx="467640" cy="885240"/>
                </a:xfrm>
                <a:prstGeom prst="rect">
                  <a:avLst/>
                </a:prstGeom>
              </p:spPr>
            </p:pic>
          </mc:Fallback>
        </mc:AlternateContent>
      </p:grpSp>
      <p:sp>
        <p:nvSpPr>
          <p:cNvPr id="20" name="Rectangle 19">
            <a:extLst>
              <a:ext uri="{FF2B5EF4-FFF2-40B4-BE49-F238E27FC236}">
                <a16:creationId xmlns:a16="http://schemas.microsoft.com/office/drawing/2014/main" id="{9D8BA91B-9320-AB77-B378-DDB1CA1DD33A}"/>
              </a:ext>
            </a:extLst>
          </p:cNvPr>
          <p:cNvSpPr/>
          <p:nvPr/>
        </p:nvSpPr>
        <p:spPr>
          <a:xfrm>
            <a:off x="2333897" y="2085834"/>
            <a:ext cx="1036320" cy="1728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RUN DATA THROUGH AI PLATFORM, IDENTIFYING “RECALL MANAGERS” AT EACH DEPARTMENT, AT EACH AFFECTED FACILITY</a:t>
            </a:r>
          </a:p>
        </p:txBody>
      </p:sp>
      <p:sp>
        <p:nvSpPr>
          <p:cNvPr id="21" name="Rectangle 20">
            <a:extLst>
              <a:ext uri="{FF2B5EF4-FFF2-40B4-BE49-F238E27FC236}">
                <a16:creationId xmlns:a16="http://schemas.microsoft.com/office/drawing/2014/main" id="{57B09D77-DEF6-9D42-879E-5018E9C48088}"/>
              </a:ext>
            </a:extLst>
          </p:cNvPr>
          <p:cNvSpPr/>
          <p:nvPr/>
        </p:nvSpPr>
        <p:spPr>
          <a:xfrm>
            <a:off x="4590891" y="2085834"/>
            <a:ext cx="914400" cy="1728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“RECALL MANAGERS” NEED TO PHYSICALLY COUNT INVENTORY. </a:t>
            </a:r>
          </a:p>
        </p:txBody>
      </p:sp>
      <p:sp>
        <p:nvSpPr>
          <p:cNvPr id="22" name="Rectangle 21">
            <a:extLst>
              <a:ext uri="{FF2B5EF4-FFF2-40B4-BE49-F238E27FC236}">
                <a16:creationId xmlns:a16="http://schemas.microsoft.com/office/drawing/2014/main" id="{8619800F-2C37-045D-3384-CE8E7944D5E8}"/>
              </a:ext>
            </a:extLst>
          </p:cNvPr>
          <p:cNvSpPr/>
          <p:nvPr/>
        </p:nvSpPr>
        <p:spPr>
          <a:xfrm>
            <a:off x="5772311" y="1457550"/>
            <a:ext cx="914400" cy="1256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MANUALLY COUNT, GO BACK TO PLATFORM, ENTER DATA MANUALLY</a:t>
            </a:r>
          </a:p>
        </p:txBody>
      </p:sp>
      <p:sp>
        <p:nvSpPr>
          <p:cNvPr id="23" name="Rectangle 22">
            <a:extLst>
              <a:ext uri="{FF2B5EF4-FFF2-40B4-BE49-F238E27FC236}">
                <a16:creationId xmlns:a16="http://schemas.microsoft.com/office/drawing/2014/main" id="{5130042B-3BBF-2985-4F20-36DF36472DE3}"/>
              </a:ext>
            </a:extLst>
          </p:cNvPr>
          <p:cNvSpPr/>
          <p:nvPr/>
        </p:nvSpPr>
        <p:spPr>
          <a:xfrm>
            <a:off x="5772311" y="2887389"/>
            <a:ext cx="914400" cy="1422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SCAN WITH RFID SCANNER, DATA GOES DIRECTLY TO PLATFORM</a:t>
            </a:r>
          </a:p>
        </p:txBody>
      </p:sp>
      <p:sp>
        <p:nvSpPr>
          <p:cNvPr id="24" name="Rectangle 23">
            <a:extLst>
              <a:ext uri="{FF2B5EF4-FFF2-40B4-BE49-F238E27FC236}">
                <a16:creationId xmlns:a16="http://schemas.microsoft.com/office/drawing/2014/main" id="{4FEE59DC-1C61-5CCC-AFA7-94D94464D698}"/>
              </a:ext>
            </a:extLst>
          </p:cNvPr>
          <p:cNvSpPr/>
          <p:nvPr/>
        </p:nvSpPr>
        <p:spPr>
          <a:xfrm>
            <a:off x="7048403" y="1771692"/>
            <a:ext cx="1163782" cy="23568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DATA RECORDED. NOW THE ACTION. ACTION CAN BE SIMPLY FILLING OUT A FORM AND SENDING IT BACK TO THE VENDOR. WE CAN DO THAT. WE HAVE THE “RECALL MANAGERS” NAME, JOB TITLE, PHONE, EMAIL. WE CAN ADD A FAUX SIGNATURE AND SEND BACK TO THE VENDOR. WE CAN EVEN PROGRAM THE EMAILS INTO THE PLATFORM. </a:t>
            </a:r>
          </a:p>
        </p:txBody>
      </p:sp>
      <p:sp>
        <p:nvSpPr>
          <p:cNvPr id="25" name="Rectangle 24">
            <a:extLst>
              <a:ext uri="{FF2B5EF4-FFF2-40B4-BE49-F238E27FC236}">
                <a16:creationId xmlns:a16="http://schemas.microsoft.com/office/drawing/2014/main" id="{ADC00A83-3BED-6F3C-2DE2-B88313A6F4F0}"/>
              </a:ext>
            </a:extLst>
          </p:cNvPr>
          <p:cNvSpPr/>
          <p:nvPr/>
        </p:nvSpPr>
        <p:spPr>
          <a:xfrm>
            <a:off x="8432538" y="644961"/>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SEND  AND STORE COMPLETED RECALL RESPONSE FORM. RECALL COMPLETE</a:t>
            </a:r>
          </a:p>
        </p:txBody>
      </p:sp>
      <p:sp>
        <p:nvSpPr>
          <p:cNvPr id="26" name="Rectangle 25">
            <a:extLst>
              <a:ext uri="{FF2B5EF4-FFF2-40B4-BE49-F238E27FC236}">
                <a16:creationId xmlns:a16="http://schemas.microsoft.com/office/drawing/2014/main" id="{56075302-9B72-4D69-4BE5-1F5233D44A22}"/>
              </a:ext>
            </a:extLst>
          </p:cNvPr>
          <p:cNvSpPr/>
          <p:nvPr/>
        </p:nvSpPr>
        <p:spPr>
          <a:xfrm>
            <a:off x="8432538" y="1771692"/>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SEND COMPLETED FORM, AND RETURN AFFECTED ITEMS. RECALL COMPLETE</a:t>
            </a:r>
          </a:p>
        </p:txBody>
      </p:sp>
      <p:sp>
        <p:nvSpPr>
          <p:cNvPr id="27" name="Rectangle 26">
            <a:extLst>
              <a:ext uri="{FF2B5EF4-FFF2-40B4-BE49-F238E27FC236}">
                <a16:creationId xmlns:a16="http://schemas.microsoft.com/office/drawing/2014/main" id="{C26C4B45-E081-AE4D-DA18-B8C0D8CDBC98}"/>
              </a:ext>
            </a:extLst>
          </p:cNvPr>
          <p:cNvSpPr/>
          <p:nvPr/>
        </p:nvSpPr>
        <p:spPr>
          <a:xfrm>
            <a:off x="8432538" y="2953260"/>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FILL OUT ONLINE FORM. RECALL COMPLETE</a:t>
            </a:r>
          </a:p>
        </p:txBody>
      </p:sp>
      <p:sp>
        <p:nvSpPr>
          <p:cNvPr id="28" name="Rectangle 27">
            <a:extLst>
              <a:ext uri="{FF2B5EF4-FFF2-40B4-BE49-F238E27FC236}">
                <a16:creationId xmlns:a16="http://schemas.microsoft.com/office/drawing/2014/main" id="{AE784569-8008-2C25-0449-FA834D3A047D}"/>
              </a:ext>
            </a:extLst>
          </p:cNvPr>
          <p:cNvSpPr/>
          <p:nvPr/>
        </p:nvSpPr>
        <p:spPr>
          <a:xfrm>
            <a:off x="8432538" y="4164120"/>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COORDINATE MEETING WITH VENDOR TO DISCUSS XYZ. RECALL COMPLETE</a:t>
            </a:r>
          </a:p>
        </p:txBody>
      </p:sp>
      <p:sp>
        <p:nvSpPr>
          <p:cNvPr id="29" name="Rectangle 28">
            <a:extLst>
              <a:ext uri="{FF2B5EF4-FFF2-40B4-BE49-F238E27FC236}">
                <a16:creationId xmlns:a16="http://schemas.microsoft.com/office/drawing/2014/main" id="{F32D12D7-FA63-4B1D-00D1-FAFD7B564766}"/>
              </a:ext>
            </a:extLst>
          </p:cNvPr>
          <p:cNvSpPr/>
          <p:nvPr/>
        </p:nvSpPr>
        <p:spPr>
          <a:xfrm>
            <a:off x="8432538" y="5374980"/>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NO ACTION. RECALL COMPLETE</a:t>
            </a:r>
          </a:p>
        </p:txBody>
      </p:sp>
      <p:sp>
        <p:nvSpPr>
          <p:cNvPr id="30" name="Rectangle 29">
            <a:extLst>
              <a:ext uri="{FF2B5EF4-FFF2-40B4-BE49-F238E27FC236}">
                <a16:creationId xmlns:a16="http://schemas.microsoft.com/office/drawing/2014/main" id="{1BB40CF2-BD63-EFDE-1B1B-0692577E78DD}"/>
              </a:ext>
            </a:extLst>
          </p:cNvPr>
          <p:cNvSpPr/>
          <p:nvPr/>
        </p:nvSpPr>
        <p:spPr>
          <a:xfrm>
            <a:off x="9816673" y="644961"/>
            <a:ext cx="1887823" cy="32357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WOULD BE GOOD TO HAVE A WAY TO IMMEDIATELY ESCALATE A RECALL TO LEADERSHIP/UPPER MGMT. </a:t>
            </a:r>
          </a:p>
          <a:p>
            <a:pPr algn="ctr"/>
            <a:endParaRPr lang="en-US" sz="900" dirty="0"/>
          </a:p>
          <a:p>
            <a:pPr algn="ctr"/>
            <a:r>
              <a:rPr lang="en-US" sz="900" dirty="0"/>
              <a:t>IF A CLASS 1 OR 2 RECALL CAME IN THAT HAD WIDESPREAD USAGE OF AFFECTED PRODUCT. BEFORE WE EVEN COLLECT THE INVENTORY DATA FROM THE “RECALL MANAGERS” WE COULD OFFER PO DATA, ORIGINAL PDF FROM VENDOR AND/OR FDA  RECALL SNAPSHOT, PRESENTED IN A BIRDSEYE VIEW THAT INCLUDES OVERALL UNITS PURCHASED DURING THE AFFECTED TIME PERIOD TO SUMMARIZE THE OVERALL POTENTIAL IMPACT</a:t>
            </a:r>
          </a:p>
        </p:txBody>
      </p:sp>
      <p:sp>
        <p:nvSpPr>
          <p:cNvPr id="31" name="Rectangle 30">
            <a:extLst>
              <a:ext uri="{FF2B5EF4-FFF2-40B4-BE49-F238E27FC236}">
                <a16:creationId xmlns:a16="http://schemas.microsoft.com/office/drawing/2014/main" id="{7CEE3400-6EC2-75CC-835F-9A24D92F8623}"/>
              </a:ext>
            </a:extLst>
          </p:cNvPr>
          <p:cNvSpPr/>
          <p:nvPr/>
        </p:nvSpPr>
        <p:spPr>
          <a:xfrm>
            <a:off x="9858103" y="4128497"/>
            <a:ext cx="1846393" cy="15669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dirty="0"/>
          </a:p>
          <a:p>
            <a:pPr algn="ctr"/>
            <a:r>
              <a:rPr lang="en-US" sz="900" dirty="0"/>
              <a:t>ALSO VERY IMPORTANT FOR SUPPLY CHAIN TO KNOW IMMEDIATELY IF THERE IS GOING TO BE ANY MANUFACTURING DELAYS DUE TO A RECALL. ANY SHORTAGES? BACKORDERS? AND SUBSTITUTES. WE COULD USE A PRECANNED FORM TO CONFIRM THIS. </a:t>
            </a:r>
          </a:p>
        </p:txBody>
      </p:sp>
      <p:sp>
        <p:nvSpPr>
          <p:cNvPr id="32" name="Rectangle 31">
            <a:extLst>
              <a:ext uri="{FF2B5EF4-FFF2-40B4-BE49-F238E27FC236}">
                <a16:creationId xmlns:a16="http://schemas.microsoft.com/office/drawing/2014/main" id="{9E7AA129-F4C3-CF1C-1436-82A6246E4C2E}"/>
              </a:ext>
            </a:extLst>
          </p:cNvPr>
          <p:cNvSpPr/>
          <p:nvPr/>
        </p:nvSpPr>
        <p:spPr>
          <a:xfrm>
            <a:off x="9858102" y="5858490"/>
            <a:ext cx="1846393"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BEST PART IS THAT WHEN WE RECEIVE AN ANSWER FROM A VENDOR ON A QUESTION LIKE THE ABOVE, WE CAN BROADCAST IT TO OUR CUSTOMERS ON OUR OWN TICKER!  </a:t>
            </a:r>
          </a:p>
        </p:txBody>
      </p:sp>
    </p:spTree>
    <p:extLst>
      <p:ext uri="{BB962C8B-B14F-4D97-AF65-F5344CB8AC3E}">
        <p14:creationId xmlns:p14="http://schemas.microsoft.com/office/powerpoint/2010/main" val="843395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356</Words>
  <Application>Microsoft Macintosh PowerPoint</Application>
  <PresentationFormat>Widescreen</PresentationFormat>
  <Paragraphs>22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Paradise</dc:creator>
  <cp:lastModifiedBy>Christopher Paradise</cp:lastModifiedBy>
  <cp:revision>1</cp:revision>
  <dcterms:created xsi:type="dcterms:W3CDTF">2025-05-22T19:36:50Z</dcterms:created>
  <dcterms:modified xsi:type="dcterms:W3CDTF">2025-05-22T20:06:24Z</dcterms:modified>
</cp:coreProperties>
</file>