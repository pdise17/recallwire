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1" r:id="rId7"/>
    <p:sldId id="262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A6C7"/>
    <a:srgbClr val="47B4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388FD-21CC-8492-E326-86AA192421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21D259-1D3D-E4E3-DCC6-3C17B1BD9C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DC9416-BE8A-EA46-56A9-984C56FCE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4E430-B8AB-1C44-9A86-058D2AFB1909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45235-30FE-CCAB-2C81-35811CF69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45562-3180-0DD0-E9A7-540ADE85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E1CEE-370C-AD47-ACA0-D9247334E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638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D2EE7-8DC0-989C-FFE2-7BEC92BDA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43A06-C684-E370-757E-6C406E3ED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1A531-1A19-875F-EDAF-73E938E7F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4E430-B8AB-1C44-9A86-058D2AFB1909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E31A2-4093-C6F6-7794-79BE9816F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E1556-6734-E54D-C6E5-EA516E45B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E1CEE-370C-AD47-ACA0-D9247334E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54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B003E-FF47-8A97-221C-F3ABD9A1A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E3B58-0E3E-3254-7592-1DF60871BD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A6914-D0B0-B44D-91CE-188C84486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4E430-B8AB-1C44-9A86-058D2AFB1909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0E51E-8585-E750-D1A5-F090FB2DF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09E85-AD2E-8A60-C920-4FD09047A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E1CEE-370C-AD47-ACA0-D9247334E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802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BEDEC-805B-23A0-1CF9-D65CCFD6D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B4F51-C37E-D22F-1ECC-049DEC5F5A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040A65-6141-3E8A-1B67-E51A670431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EEA054-94F9-E4FD-DA27-257E86393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4E430-B8AB-1C44-9A86-058D2AFB1909}" type="datetimeFigureOut">
              <a:rPr lang="en-US" smtClean="0"/>
              <a:t>8/6/25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8C01E-4A50-37D8-A959-81ED8E035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20451B-DC6B-0430-27A6-319B46BEC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E1CEE-370C-AD47-ACA0-D9247334E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072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49DD0-C238-C465-6B93-F4C8E5A66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D1B873-8907-5410-BBCF-3E39F91FFC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C53192-1586-A674-0E1E-0031B9FC7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9CFD5B-4BBF-7FC2-E0D6-67321B4836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C7EC9E-39A4-5CE3-506F-6881CAEEB4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59CCAD-557F-5ED0-A405-3AEB02995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4E430-B8AB-1C44-9A86-058D2AFB1909}" type="datetimeFigureOut">
              <a:rPr lang="en-US" smtClean="0"/>
              <a:t>8/6/25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699D21-BA39-CBB5-42C0-0A6BCB8C5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965AC-6A02-7802-383D-EAECEEF7C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E1CEE-370C-AD47-ACA0-D9247334E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832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4730F-B9B3-490F-3112-777BA1F39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ABDD95-35EA-EDC2-26B4-2C265A01F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4E430-B8AB-1C44-9A86-058D2AFB1909}" type="datetimeFigureOut">
              <a:rPr lang="en-US" smtClean="0"/>
              <a:t>8/6/25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878BF0-7BF6-B651-6904-26E8EA6EF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0FC60D-B2D0-AF9A-DA31-C96E9FCC1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E1CEE-370C-AD47-ACA0-D9247334E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633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9B2F71-51B9-73DB-5DAF-9A439AEE4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4E430-B8AB-1C44-9A86-058D2AFB1909}" type="datetimeFigureOut">
              <a:rPr lang="en-US" smtClean="0"/>
              <a:t>8/6/25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B116AB-ED73-4D18-360B-5641F7F53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3A6A3-DB9A-667D-ED19-D634F7E0D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E1CEE-370C-AD47-ACA0-D9247334E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13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683E9-AA07-DF08-4B67-28A80B97C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DEF04-69B5-3F40-2C50-75EE924313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BD9422-91F7-D811-C19B-F8784AEE8F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DC319C-D968-B9C0-AC0C-3B624C25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4E430-B8AB-1C44-9A86-058D2AFB1909}" type="datetimeFigureOut">
              <a:rPr lang="en-US" smtClean="0"/>
              <a:t>8/6/25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C17426-217D-D8DC-9B66-167BFF5AF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0D34D6-814D-60F8-A8EC-AEAAAB779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E1CEE-370C-AD47-ACA0-D9247334E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680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6789A-23AB-2C84-2C57-2D9668F1C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0B0F8D-32A1-90FC-636D-CCD9BF880D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2E1DA0-1A79-AB1D-2768-5AF037BD0A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BD1BC2-1C2B-82A3-3457-3AB015350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4E430-B8AB-1C44-9A86-058D2AFB1909}" type="datetimeFigureOut">
              <a:rPr lang="en-US" smtClean="0"/>
              <a:t>8/6/25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9E1187-15B0-DB42-5AE1-70B991C12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295A39-A9AB-D951-3F00-550E11B1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E1CEE-370C-AD47-ACA0-D9247334E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907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20262-1D18-E1A4-6378-D19AB58FC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B4E2A1-9EA7-E25C-864C-476DFFFB1C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E1980-47CD-07E6-C95A-7F201BF2A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4E430-B8AB-1C44-9A86-058D2AFB1909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3E906-DC0C-204C-4F2B-FF0164468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D050E-2F7C-37AE-DEF7-12059BB83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E1CEE-370C-AD47-ACA0-D9247334E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989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9AAD0E-8B4F-389B-88DC-31248B1763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E3DCF8-B409-EBC8-E45A-F6047FC2F6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D8403-EB91-1026-59F0-1DEB7B435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4E430-B8AB-1C44-9A86-058D2AFB1909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3E8C7-737F-6094-6E6F-BDD9E76A5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FA818-0F8F-5D49-BA63-5E67F6C9A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E1CEE-370C-AD47-ACA0-D9247334E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94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1A495F-340C-341E-9BEB-C937EF3A5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99F8F4-2590-D107-DB2D-DCE847431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51660-8A34-31AA-FE27-EE50314F1B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A4E430-B8AB-1C44-9A86-058D2AFB1909}" type="datetimeFigureOut">
              <a:rPr lang="en-US" smtClean="0"/>
              <a:t>8/6/25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5E9C7-95E9-BB20-6A7B-5F4304F37A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C90CF-D229-1D6D-7F18-301C862013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2E1CEE-370C-AD47-ACA0-D9247334EB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900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logo&#10;&#10;AI-generated content may be incorrect.">
            <a:extLst>
              <a:ext uri="{FF2B5EF4-FFF2-40B4-BE49-F238E27FC236}">
                <a16:creationId xmlns:a16="http://schemas.microsoft.com/office/drawing/2014/main" id="{4368C027-6BC8-E441-7F99-95230421A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70948"/>
            <a:ext cx="7772400" cy="26804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B295AA-88E7-6369-AF0B-2B286308A41D}"/>
              </a:ext>
            </a:extLst>
          </p:cNvPr>
          <p:cNvSpPr txBox="1"/>
          <p:nvPr/>
        </p:nvSpPr>
        <p:spPr>
          <a:xfrm>
            <a:off x="2423338" y="5387052"/>
            <a:ext cx="86035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venir Book" panose="02000503020000020003" pitchFamily="2" charset="0"/>
              </a:rPr>
              <a:t>AUTOMATE.CENTR</a:t>
            </a:r>
            <a:r>
              <a:rPr lang="en-US" sz="3200" dirty="0">
                <a:solidFill>
                  <a:srgbClr val="48A6C7"/>
                </a:solidFill>
                <a:latin typeface="Avenir Book" panose="02000503020000020003" pitchFamily="2" charset="0"/>
              </a:rPr>
              <a:t>A</a:t>
            </a:r>
            <a:r>
              <a:rPr lang="en-US" sz="3200" dirty="0">
                <a:latin typeface="Avenir Book" panose="02000503020000020003" pitchFamily="2" charset="0"/>
              </a:rPr>
              <a:t>L</a:t>
            </a:r>
            <a:r>
              <a:rPr lang="en-US" sz="3200" dirty="0">
                <a:solidFill>
                  <a:srgbClr val="48A6C7"/>
                </a:solidFill>
                <a:latin typeface="Avenir Book" panose="02000503020000020003" pitchFamily="2" charset="0"/>
              </a:rPr>
              <a:t>I</a:t>
            </a:r>
            <a:r>
              <a:rPr lang="en-US" sz="3200" dirty="0">
                <a:latin typeface="Avenir Book" panose="02000503020000020003" pitchFamily="2" charset="0"/>
              </a:rPr>
              <a:t>ZE.STRE</a:t>
            </a:r>
            <a:r>
              <a:rPr lang="en-US" sz="3200" dirty="0">
                <a:solidFill>
                  <a:srgbClr val="48A6C7"/>
                </a:solidFill>
                <a:latin typeface="Avenir Book" panose="02000503020000020003" pitchFamily="2" charset="0"/>
              </a:rPr>
              <a:t>A</a:t>
            </a:r>
            <a:r>
              <a:rPr lang="en-US" sz="3200" dirty="0">
                <a:latin typeface="Avenir Book" panose="02000503020000020003" pitchFamily="2" charset="0"/>
              </a:rPr>
              <a:t>ML</a:t>
            </a:r>
            <a:r>
              <a:rPr lang="en-US" sz="3200" dirty="0">
                <a:solidFill>
                  <a:srgbClr val="48A6C7"/>
                </a:solidFill>
                <a:latin typeface="Avenir Book" panose="02000503020000020003" pitchFamily="2" charset="0"/>
              </a:rPr>
              <a:t>I</a:t>
            </a:r>
            <a:r>
              <a:rPr lang="en-US" sz="3200" dirty="0">
                <a:latin typeface="Avenir Book" panose="02000503020000020003" pitchFamily="2" charset="0"/>
              </a:rPr>
              <a:t>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60C0CB-54A4-149C-D85C-F726AD45AAA5}"/>
              </a:ext>
            </a:extLst>
          </p:cNvPr>
          <p:cNvSpPr txBox="1"/>
          <p:nvPr/>
        </p:nvSpPr>
        <p:spPr>
          <a:xfrm>
            <a:off x="3242931" y="6539024"/>
            <a:ext cx="63901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latin typeface="Avenir Book" panose="02000503020000020003" pitchFamily="2" charset="0"/>
              </a:rPr>
              <a:t>Recall Wire® Confidential – Do not copy, distribute or use without Recall Wire written permission (2025)</a:t>
            </a:r>
          </a:p>
        </p:txBody>
      </p:sp>
    </p:spTree>
    <p:extLst>
      <p:ext uri="{BB962C8B-B14F-4D97-AF65-F5344CB8AC3E}">
        <p14:creationId xmlns:p14="http://schemas.microsoft.com/office/powerpoint/2010/main" val="3943084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9BB16927-6837-F686-D323-E8657DB46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357" y="395910"/>
            <a:ext cx="2541229" cy="8763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FD0E20-7CAD-9DB8-3B63-BB7CF3C44BF5}"/>
              </a:ext>
            </a:extLst>
          </p:cNvPr>
          <p:cNvSpPr txBox="1"/>
          <p:nvPr/>
        </p:nvSpPr>
        <p:spPr>
          <a:xfrm>
            <a:off x="3306726" y="143843"/>
            <a:ext cx="9136817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500" dirty="0">
                <a:latin typeface="Avenir Book" panose="02000503020000020003" pitchFamily="2" charset="0"/>
              </a:rPr>
              <a:t>AUTOM</a:t>
            </a:r>
            <a:r>
              <a:rPr lang="en-US" sz="9500" dirty="0">
                <a:solidFill>
                  <a:srgbClr val="48A6C7"/>
                </a:solidFill>
                <a:latin typeface="Avenir Book" panose="02000503020000020003" pitchFamily="2" charset="0"/>
              </a:rPr>
              <a:t>A</a:t>
            </a:r>
            <a:r>
              <a:rPr lang="en-US" sz="9500" dirty="0">
                <a:latin typeface="Avenir Book" panose="02000503020000020003" pitchFamily="2" charset="0"/>
              </a:rPr>
              <a:t>T</a:t>
            </a:r>
            <a:r>
              <a:rPr lang="en-US" sz="9500" dirty="0">
                <a:solidFill>
                  <a:srgbClr val="48A6C7"/>
                </a:solidFill>
                <a:latin typeface="Avenir Book" panose="02000503020000020003" pitchFamily="2" charset="0"/>
              </a:rPr>
              <a:t>I</a:t>
            </a:r>
            <a:r>
              <a:rPr lang="en-US" sz="9500" dirty="0">
                <a:latin typeface="Avenir Book" panose="02000503020000020003" pitchFamily="2" charset="0"/>
              </a:rPr>
              <a:t>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9293E1-A3F9-855A-A474-5B7B8AF76438}"/>
              </a:ext>
            </a:extLst>
          </p:cNvPr>
          <p:cNvSpPr txBox="1"/>
          <p:nvPr/>
        </p:nvSpPr>
        <p:spPr>
          <a:xfrm>
            <a:off x="843516" y="2434856"/>
            <a:ext cx="1077529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venir Book" panose="02000503020000020003" pitchFamily="2" charset="0"/>
              </a:rPr>
              <a:t>REAL TIME RECALL NOTIFICATIONS AVERAGING 25-45 DAYS FASTER THAN FDA AND TRADITIONAL RECALL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Avenir Book" panose="020005030200000200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venir Book" panose="02000503020000020003" pitchFamily="2" charset="0"/>
              </a:rPr>
              <a:t>AI BACKED PLATFORM RECEIVES RECALL NOTIFICATIONS AND AUTOMATICALLY TRANSMITS TO THE RESPONSIBLE PARTY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Avenir Book" panose="020005030200000200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venir Book" panose="02000503020000020003" pitchFamily="2" charset="0"/>
              </a:rPr>
              <a:t>IDENTIFY AFFECTED INVENTORY – IMMEDIATELY PULL PRODUCT OFF SHELVES – TRACK ALL 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Avenir Book" panose="020005030200000200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venir Book" panose="02000503020000020003" pitchFamily="2" charset="0"/>
              </a:rPr>
              <a:t>FULL VISIBILITY OF PRODUCT RECALL LIFE CYCLE FROM START TO FINISH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75DC9D-9458-186E-0C80-14AA4F9AED98}"/>
              </a:ext>
            </a:extLst>
          </p:cNvPr>
          <p:cNvSpPr txBox="1"/>
          <p:nvPr/>
        </p:nvSpPr>
        <p:spPr>
          <a:xfrm>
            <a:off x="2352763" y="5197860"/>
            <a:ext cx="7486473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dirty="0">
                <a:latin typeface="Avenir Book" panose="02000503020000020003" pitchFamily="2" charset="0"/>
              </a:rPr>
              <a:t>“TAKE MATTERS INTO YOUR OWN HANDS. THINK FORWARD.”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47B28E-3355-CC1A-F178-C3333CF4C112}"/>
              </a:ext>
            </a:extLst>
          </p:cNvPr>
          <p:cNvSpPr txBox="1"/>
          <p:nvPr/>
        </p:nvSpPr>
        <p:spPr>
          <a:xfrm>
            <a:off x="3373395" y="6487297"/>
            <a:ext cx="552426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Avenir Book" panose="02000503020000020003" pitchFamily="2" charset="0"/>
              </a:rPr>
              <a:t>Recall Wire® Confidential – Do not copy, distribute or use without Recall Wire written permission (2025)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366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56F1D8DD-981A-2201-9129-6555B7B3A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357" y="395910"/>
            <a:ext cx="2541229" cy="8763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2BBAD3-9539-5C95-0780-D18CE9AF01F8}"/>
              </a:ext>
            </a:extLst>
          </p:cNvPr>
          <p:cNvSpPr txBox="1"/>
          <p:nvPr/>
        </p:nvSpPr>
        <p:spPr>
          <a:xfrm>
            <a:off x="3407041" y="174881"/>
            <a:ext cx="8519193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500" dirty="0">
                <a:latin typeface="Avenir Book" panose="02000503020000020003" pitchFamily="2" charset="0"/>
              </a:rPr>
              <a:t>CENTR</a:t>
            </a:r>
            <a:r>
              <a:rPr lang="en-US" sz="9500" dirty="0">
                <a:solidFill>
                  <a:srgbClr val="48A6C7"/>
                </a:solidFill>
                <a:latin typeface="Avenir Book" panose="02000503020000020003" pitchFamily="2" charset="0"/>
              </a:rPr>
              <a:t>A</a:t>
            </a:r>
            <a:r>
              <a:rPr lang="en-US" sz="9500" dirty="0">
                <a:latin typeface="Avenir Book" panose="02000503020000020003" pitchFamily="2" charset="0"/>
              </a:rPr>
              <a:t>L</a:t>
            </a:r>
            <a:r>
              <a:rPr lang="en-US" sz="9500" dirty="0">
                <a:solidFill>
                  <a:srgbClr val="48A6C7"/>
                </a:solidFill>
                <a:latin typeface="Avenir Book" panose="02000503020000020003" pitchFamily="2" charset="0"/>
              </a:rPr>
              <a:t>I</a:t>
            </a:r>
            <a:r>
              <a:rPr lang="en-US" sz="9500" dirty="0">
                <a:latin typeface="Avenir Book" panose="02000503020000020003" pitchFamily="2" charset="0"/>
              </a:rPr>
              <a:t>ZE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60DFB5-178E-7AF0-DC1D-38A19CA8B97B}"/>
              </a:ext>
            </a:extLst>
          </p:cNvPr>
          <p:cNvSpPr txBox="1"/>
          <p:nvPr/>
        </p:nvSpPr>
        <p:spPr>
          <a:xfrm>
            <a:off x="680484" y="2521059"/>
            <a:ext cx="11121656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venir Book" panose="02000503020000020003" pitchFamily="2" charset="0"/>
              </a:rPr>
              <a:t>LIVE WEB-BASED TRAINING. MANAGEMENT TRAINING. CUSTOMER SERVICE RAPID RESPONSE TEAM.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Avenir Book" panose="020005030200000200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venir Book" panose="02000503020000020003" pitchFamily="2" charset="0"/>
              </a:rPr>
              <a:t>CONNECT AND OVERSEE ALL FACILITIES AND DEPARTMENTS WITHIN YOUR COMPANY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Avenir Book" panose="020005030200000200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venir Book" panose="02000503020000020003" pitchFamily="2" charset="0"/>
              </a:rPr>
              <a:t>PROCESS RECALL NOTICES THROUGH REC</a:t>
            </a:r>
            <a:r>
              <a:rPr lang="en-US" sz="1400" dirty="0">
                <a:solidFill>
                  <a:srgbClr val="48A6C7"/>
                </a:solidFill>
                <a:latin typeface="Avenir Book" panose="02000503020000020003" pitchFamily="2" charset="0"/>
              </a:rPr>
              <a:t>A</a:t>
            </a:r>
            <a:r>
              <a:rPr lang="en-US" sz="1400" dirty="0">
                <a:latin typeface="Avenir Book" panose="02000503020000020003" pitchFamily="2" charset="0"/>
              </a:rPr>
              <a:t>LL W</a:t>
            </a:r>
            <a:r>
              <a:rPr lang="en-US" sz="1400" dirty="0">
                <a:solidFill>
                  <a:srgbClr val="48A6C7"/>
                </a:solidFill>
                <a:latin typeface="Avenir Book" panose="02000503020000020003" pitchFamily="2" charset="0"/>
              </a:rPr>
              <a:t>I</a:t>
            </a:r>
            <a:r>
              <a:rPr lang="en-US" sz="1400" dirty="0">
                <a:latin typeface="Avenir Book" panose="02000503020000020003" pitchFamily="2" charset="0"/>
              </a:rPr>
              <a:t>RE TO IMMEDIATELY LOCATE AND NOTIFY USERS.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Avenir Book" panose="020005030200000200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venir Book" panose="02000503020000020003" pitchFamily="2" charset="0"/>
              </a:rPr>
              <a:t>AUTOMATICALLY SEND NOTIFICATIONS TO AFFECTED FACILITIES/STORES/LOCATIONS.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Avenir Book" panose="020005030200000200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venir Book" panose="02000503020000020003" pitchFamily="2" charset="0"/>
              </a:rPr>
              <a:t>ENSURE RECALLS ARE HANDLED IN REAL-TIME TO ENSURE QUALITY AND SAFETY.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Avenir Book" panose="020005030200000200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venir Book" panose="02000503020000020003" pitchFamily="2" charset="0"/>
              </a:rPr>
              <a:t>REDUCE PATIENT EXPOSURE TO LIFE THREATENING PRODUCT AND SAVE LIVES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4B59F3-31D6-6B28-1391-2DA506F95392}"/>
              </a:ext>
            </a:extLst>
          </p:cNvPr>
          <p:cNvSpPr txBox="1"/>
          <p:nvPr/>
        </p:nvSpPr>
        <p:spPr>
          <a:xfrm>
            <a:off x="3192426" y="6627168"/>
            <a:ext cx="60977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latin typeface="Avenir Book" panose="02000503020000020003" pitchFamily="2" charset="0"/>
              </a:rPr>
              <a:t>Recall Wire® Confidential – Do not copy, distribute or use without Recall Wire written permission (2025)</a:t>
            </a:r>
          </a:p>
        </p:txBody>
      </p:sp>
    </p:spTree>
    <p:extLst>
      <p:ext uri="{BB962C8B-B14F-4D97-AF65-F5344CB8AC3E}">
        <p14:creationId xmlns:p14="http://schemas.microsoft.com/office/powerpoint/2010/main" val="1336211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36DEA-479E-D38C-6A87-DDDBFAEFF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06AF9314-4E0A-E62C-9B80-B91BFDC05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357" y="395910"/>
            <a:ext cx="2541229" cy="8763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4E988B-62CA-9E5C-9570-0C10D0533C63}"/>
              </a:ext>
            </a:extLst>
          </p:cNvPr>
          <p:cNvSpPr txBox="1"/>
          <p:nvPr/>
        </p:nvSpPr>
        <p:spPr>
          <a:xfrm>
            <a:off x="3407041" y="174881"/>
            <a:ext cx="8519193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500" dirty="0">
                <a:latin typeface="Avenir Book" panose="02000503020000020003" pitchFamily="2" charset="0"/>
              </a:rPr>
              <a:t>CENTR</a:t>
            </a:r>
            <a:r>
              <a:rPr lang="en-US" sz="9500" dirty="0">
                <a:solidFill>
                  <a:srgbClr val="48A6C7"/>
                </a:solidFill>
                <a:latin typeface="Avenir Book" panose="02000503020000020003" pitchFamily="2" charset="0"/>
              </a:rPr>
              <a:t>A</a:t>
            </a:r>
            <a:r>
              <a:rPr lang="en-US" sz="9500" dirty="0">
                <a:latin typeface="Avenir Book" panose="02000503020000020003" pitchFamily="2" charset="0"/>
              </a:rPr>
              <a:t>L</a:t>
            </a:r>
            <a:r>
              <a:rPr lang="en-US" sz="9500" dirty="0">
                <a:solidFill>
                  <a:srgbClr val="48A6C7"/>
                </a:solidFill>
                <a:latin typeface="Avenir Book" panose="02000503020000020003" pitchFamily="2" charset="0"/>
              </a:rPr>
              <a:t>I</a:t>
            </a:r>
            <a:r>
              <a:rPr lang="en-US" sz="9500" dirty="0">
                <a:latin typeface="Avenir Book" panose="02000503020000020003" pitchFamily="2" charset="0"/>
              </a:rPr>
              <a:t>ZE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185162-F886-15B8-B42A-DFF297B8AB70}"/>
              </a:ext>
            </a:extLst>
          </p:cNvPr>
          <p:cNvSpPr txBox="1"/>
          <p:nvPr/>
        </p:nvSpPr>
        <p:spPr>
          <a:xfrm>
            <a:off x="680484" y="2521059"/>
            <a:ext cx="11121656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Avenir Book" panose="02000503020000020003" pitchFamily="2" charset="0"/>
              </a:rPr>
              <a:t>Tier 1 – Recall Coordinator </a:t>
            </a:r>
            <a:br>
              <a:rPr lang="en-US" sz="1400" dirty="0">
                <a:latin typeface="Avenir Book" panose="02000503020000020003" pitchFamily="2" charset="0"/>
              </a:rPr>
            </a:br>
            <a:r>
              <a:rPr lang="en-US" sz="1400" dirty="0">
                <a:latin typeface="Avenir Book" panose="02000503020000020003" pitchFamily="2" charset="0"/>
              </a:rPr>
              <a:t>Oversees inventory in their department(s)</a:t>
            </a:r>
            <a:br>
              <a:rPr lang="en-US" sz="1400" dirty="0">
                <a:latin typeface="Avenir Book" panose="02000503020000020003" pitchFamily="2" charset="0"/>
              </a:rPr>
            </a:br>
            <a:r>
              <a:rPr lang="en-US" sz="1400" dirty="0">
                <a:latin typeface="Avenir Book" panose="02000503020000020003" pitchFamily="2" charset="0"/>
              </a:rPr>
              <a:t>Receives direct emails from platform requesting inventory checks, has access to enter data in the platform, and closes recalls. </a:t>
            </a:r>
          </a:p>
          <a:p>
            <a:r>
              <a:rPr lang="en-US" sz="1400" dirty="0">
                <a:latin typeface="Avenir Book" panose="02000503020000020003" pitchFamily="2" charset="0"/>
              </a:rPr>
              <a:t> </a:t>
            </a:r>
          </a:p>
          <a:p>
            <a:r>
              <a:rPr lang="en-US" sz="1400" b="1" dirty="0">
                <a:latin typeface="Avenir Book" panose="02000503020000020003" pitchFamily="2" charset="0"/>
              </a:rPr>
              <a:t>Tier 2 – Materials Manager/Facility Point Person</a:t>
            </a:r>
            <a:br>
              <a:rPr lang="en-US" sz="1400" dirty="0">
                <a:latin typeface="Avenir Book" panose="02000503020000020003" pitchFamily="2" charset="0"/>
              </a:rPr>
            </a:br>
            <a:r>
              <a:rPr lang="en-US" sz="1400" dirty="0">
                <a:latin typeface="Avenir Book" panose="02000503020000020003" pitchFamily="2" charset="0"/>
              </a:rPr>
              <a:t>Receives direct emails from platform requesting inventory checks. Can re-route to other department if needed. Can close out recalls on other departments behalf. Can add / remove users. </a:t>
            </a:r>
          </a:p>
          <a:p>
            <a:r>
              <a:rPr lang="en-US" sz="1400" dirty="0">
                <a:latin typeface="Avenir Book" panose="02000503020000020003" pitchFamily="2" charset="0"/>
              </a:rPr>
              <a:t> </a:t>
            </a:r>
          </a:p>
          <a:p>
            <a:r>
              <a:rPr lang="en-US" sz="1400" b="1" dirty="0">
                <a:latin typeface="Avenir Book" panose="02000503020000020003" pitchFamily="2" charset="0"/>
              </a:rPr>
              <a:t>Tier 3 – Recall Manager/Administrator</a:t>
            </a:r>
          </a:p>
          <a:p>
            <a:r>
              <a:rPr lang="en-US" sz="1400" dirty="0">
                <a:latin typeface="Avenir Book" panose="02000503020000020003" pitchFamily="2" charset="0"/>
              </a:rPr>
              <a:t>Oversees. Can escalate. Can update and close recalls. Can re-route recalls to other departments. Can add/remove users. Can add/remove departments. Has access to reporting tools.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5FFC10-1FF3-C92D-4F55-8FB55DAC1EAC}"/>
              </a:ext>
            </a:extLst>
          </p:cNvPr>
          <p:cNvSpPr txBox="1"/>
          <p:nvPr/>
        </p:nvSpPr>
        <p:spPr>
          <a:xfrm>
            <a:off x="3192426" y="6627168"/>
            <a:ext cx="60977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latin typeface="Avenir Book" panose="02000503020000020003" pitchFamily="2" charset="0"/>
              </a:rPr>
              <a:t>Recall Wire® Confidential – Do not copy, distribute or use without Recall Wire written permission (2025)</a:t>
            </a:r>
          </a:p>
        </p:txBody>
      </p:sp>
    </p:spTree>
    <p:extLst>
      <p:ext uri="{BB962C8B-B14F-4D97-AF65-F5344CB8AC3E}">
        <p14:creationId xmlns:p14="http://schemas.microsoft.com/office/powerpoint/2010/main" val="1154677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9B86E448-193B-7C7B-5CEF-D6146BDBC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357" y="395910"/>
            <a:ext cx="2541229" cy="8763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506719-3D3D-81B8-6664-CA1C5A04AB0B}"/>
              </a:ext>
            </a:extLst>
          </p:cNvPr>
          <p:cNvSpPr txBox="1"/>
          <p:nvPr/>
        </p:nvSpPr>
        <p:spPr>
          <a:xfrm>
            <a:off x="3378638" y="160892"/>
            <a:ext cx="7828077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500" dirty="0">
                <a:latin typeface="Avenir Book" panose="02000503020000020003" pitchFamily="2" charset="0"/>
              </a:rPr>
              <a:t>STRE</a:t>
            </a:r>
            <a:r>
              <a:rPr lang="en-US" sz="9500" dirty="0">
                <a:solidFill>
                  <a:srgbClr val="48A6C7"/>
                </a:solidFill>
                <a:latin typeface="Avenir Book" panose="02000503020000020003" pitchFamily="2" charset="0"/>
              </a:rPr>
              <a:t>A</a:t>
            </a:r>
            <a:r>
              <a:rPr lang="en-US" sz="9500" dirty="0">
                <a:latin typeface="Avenir Book" panose="02000503020000020003" pitchFamily="2" charset="0"/>
              </a:rPr>
              <a:t>ML</a:t>
            </a:r>
            <a:r>
              <a:rPr lang="en-US" sz="9500" dirty="0">
                <a:solidFill>
                  <a:srgbClr val="48A6C7"/>
                </a:solidFill>
                <a:latin typeface="Avenir Book" panose="02000503020000020003" pitchFamily="2" charset="0"/>
              </a:rPr>
              <a:t>I</a:t>
            </a:r>
            <a:r>
              <a:rPr lang="en-US" sz="9500" dirty="0">
                <a:latin typeface="Avenir Book" panose="02000503020000020003" pitchFamily="2" charset="0"/>
              </a:rPr>
              <a:t>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5F1419-21CE-6C6E-2C7F-BF0F15929C9B}"/>
              </a:ext>
            </a:extLst>
          </p:cNvPr>
          <p:cNvSpPr txBox="1"/>
          <p:nvPr/>
        </p:nvSpPr>
        <p:spPr>
          <a:xfrm>
            <a:off x="393357" y="1903228"/>
            <a:ext cx="10186037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venir Book" panose="02000503020000020003" pitchFamily="2" charset="0"/>
              </a:rPr>
              <a:t>FDA RECALLS (CLASS 1, 2, 3 AND EARLY ALERTS) ARE AUTOMATICALLY SCREENED AGAIN YOUR PURCHASE ORDER HISTORY, ITEM MASTER, INVENTORY MASTER, ETC.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Avenir Book" panose="020005030200000200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venir Book" panose="02000503020000020003" pitchFamily="2" charset="0"/>
              </a:rPr>
              <a:t>NON-FDA RECALLS CAN BE SUBMITTED BY ANYONE WITHIN AN ORGANIZATION, SIMPLY BY UPLOADING THE ATTACHMENT (PDF, TIF, EXCEL) ONCE THIS OCCURS, THE DATA IS SEARCHED AND ANY/ALL AFFECTED PRODUCTS ARE IDENTIFIED AND EMAILS ARE AUTOMATICALLY SEND TO THE RESPONSIBLE PARTIES TO CHECK THEIR INVENTORY.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Avenir Book" panose="020005030200000200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venir Book" panose="02000503020000020003" pitchFamily="2" charset="0"/>
              </a:rPr>
              <a:t>ONCE END USERS COMPLETE THEIR TASK. RECALLS CAN BE CLOSED OR FINAL ACTIONS CAN BE TRACKED.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Avenir Book" panose="020005030200000200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venir Book" panose="02000503020000020003" pitchFamily="2" charset="0"/>
              </a:rPr>
              <a:t>ESCALATIONS / DEPARTMENTS MAPPING / INTEGRATIONS CAN ALL BE CUSTOMIZED TO YOUR ORGANIZATION.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Avenir Book" panose="020005030200000200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venir Book" panose="02000503020000020003" pitchFamily="2" charset="0"/>
              </a:rPr>
              <a:t>CUSTOMS REPORTS BACKED BY AI GIVING BIRDS-EYE VIEW INSIGHT DOWN TO THE MOST GRANULAR DETAIL.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Avenir Book" panose="020005030200000200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venir Book" panose="02000503020000020003" pitchFamily="2" charset="0"/>
              </a:rPr>
              <a:t>RECALL WIRE WILL KEEP TRACK OF ALL YOUR RECALL RESPONSE FORMS.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Avenir Book" panose="020005030200000200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venir Book" panose="02000503020000020003" pitchFamily="2" charset="0"/>
              </a:rPr>
              <a:t>CUT COSTS BY REMOVING POTENTIALLY HARMFUL PRODUCTS FROM THE SHELVES FASTER.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latin typeface="Avenir Book" panose="02000503020000020003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venir Book" panose="02000503020000020003" pitchFamily="2" charset="0"/>
              </a:rPr>
              <a:t>PROCESSING TIME IS DECREASED BY 95% - WORK SMARTER, NOT HARDER.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280983-4266-83F1-8032-C00F7AF1B76D}"/>
              </a:ext>
            </a:extLst>
          </p:cNvPr>
          <p:cNvSpPr txBox="1"/>
          <p:nvPr/>
        </p:nvSpPr>
        <p:spPr>
          <a:xfrm>
            <a:off x="3378638" y="6554052"/>
            <a:ext cx="552426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Avenir Book" panose="02000503020000020003" pitchFamily="2" charset="0"/>
              </a:rPr>
              <a:t>Recall Wire® Confidential – Do not copy, distribute or use without Recall Wire written permission (2025)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84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5EC30B5C-09B0-499B-D43C-BA450DE43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357" y="395910"/>
            <a:ext cx="2541229" cy="8763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8E3B9C3-C56D-D65F-A00D-1A0127CDF9AF}"/>
              </a:ext>
            </a:extLst>
          </p:cNvPr>
          <p:cNvSpPr txBox="1"/>
          <p:nvPr/>
        </p:nvSpPr>
        <p:spPr>
          <a:xfrm>
            <a:off x="3502590" y="132366"/>
            <a:ext cx="820036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500" dirty="0">
                <a:latin typeface="Avenir Book" panose="02000503020000020003" pitchFamily="2" charset="0"/>
              </a:rPr>
              <a:t>REPORTING</a:t>
            </a:r>
            <a:endParaRPr lang="en-US" sz="95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EAF825A-B9B4-2BB7-4464-A048314B4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541" y="2279761"/>
            <a:ext cx="9535731" cy="319428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141BACE-22E7-3248-6FAE-23D552E57206}"/>
              </a:ext>
            </a:extLst>
          </p:cNvPr>
          <p:cNvSpPr txBox="1"/>
          <p:nvPr/>
        </p:nvSpPr>
        <p:spPr>
          <a:xfrm>
            <a:off x="3333865" y="6604084"/>
            <a:ext cx="552426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Avenir Book" panose="02000503020000020003" pitchFamily="2" charset="0"/>
              </a:rPr>
              <a:t>Recall Wire® Confidential – Do not copy, distribute or use without Recall Wire written permission (2025)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014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57C13-605D-9F92-7C56-1D5B489AB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023AF0F6-68E2-BFE2-0902-B2BFCA91E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357" y="395910"/>
            <a:ext cx="2541229" cy="8763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7A7DA9-9FB8-0384-A134-8D55857A7D52}"/>
              </a:ext>
            </a:extLst>
          </p:cNvPr>
          <p:cNvSpPr txBox="1"/>
          <p:nvPr/>
        </p:nvSpPr>
        <p:spPr>
          <a:xfrm>
            <a:off x="3407041" y="174881"/>
            <a:ext cx="8519193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500" dirty="0">
                <a:latin typeface="Avenir Book" panose="02000503020000020003" pitchFamily="2" charset="0"/>
              </a:rPr>
              <a:t>DASHBOARD</a:t>
            </a:r>
          </a:p>
        </p:txBody>
      </p:sp>
      <p:pic>
        <p:nvPicPr>
          <p:cNvPr id="2" name="Picture 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4FD2798-4FC2-E2B8-1EB9-74AF15B3A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889" y="1878243"/>
            <a:ext cx="9290222" cy="44349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280C50-E3B1-5F83-3B0A-EE1FBC565A86}"/>
              </a:ext>
            </a:extLst>
          </p:cNvPr>
          <p:cNvSpPr txBox="1"/>
          <p:nvPr/>
        </p:nvSpPr>
        <p:spPr>
          <a:xfrm>
            <a:off x="3615070" y="6604084"/>
            <a:ext cx="5524269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latin typeface="Avenir Book" panose="02000503020000020003" pitchFamily="2" charset="0"/>
              </a:rPr>
              <a:t>Recall Wire® Confidential – Do not copy, distribute or use without Recall Wire written permission (2025)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060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logo&#10;&#10;AI-generated content may be incorrect.">
            <a:extLst>
              <a:ext uri="{FF2B5EF4-FFF2-40B4-BE49-F238E27FC236}">
                <a16:creationId xmlns:a16="http://schemas.microsoft.com/office/drawing/2014/main" id="{6D4C8EFC-6B50-292B-D94A-95FD0CDE3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357" y="395910"/>
            <a:ext cx="2541229" cy="8763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1C1C13-1E18-C65C-1D00-36BC2CCAD99F}"/>
              </a:ext>
            </a:extLst>
          </p:cNvPr>
          <p:cNvSpPr txBox="1"/>
          <p:nvPr/>
        </p:nvSpPr>
        <p:spPr>
          <a:xfrm>
            <a:off x="3463699" y="150259"/>
            <a:ext cx="8051361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500" dirty="0">
                <a:latin typeface="Avenir Book" panose="02000503020000020003" pitchFamily="2" charset="0"/>
              </a:rPr>
              <a:t>S</a:t>
            </a:r>
            <a:r>
              <a:rPr lang="en-US" sz="9500" dirty="0">
                <a:solidFill>
                  <a:srgbClr val="48A6C7"/>
                </a:solidFill>
                <a:latin typeface="Avenir Book" panose="02000503020000020003" pitchFamily="2" charset="0"/>
              </a:rPr>
              <a:t>A</a:t>
            </a:r>
            <a:r>
              <a:rPr lang="en-US" sz="9500" dirty="0">
                <a:latin typeface="Avenir Book" panose="02000503020000020003" pitchFamily="2" charset="0"/>
              </a:rPr>
              <a:t>VE T</a:t>
            </a:r>
            <a:r>
              <a:rPr lang="en-US" sz="9500" dirty="0">
                <a:solidFill>
                  <a:srgbClr val="48A6C7"/>
                </a:solidFill>
                <a:latin typeface="Avenir Book" panose="02000503020000020003" pitchFamily="2" charset="0"/>
              </a:rPr>
              <a:t>I</a:t>
            </a:r>
            <a:r>
              <a:rPr lang="en-US" sz="9500" dirty="0">
                <a:latin typeface="Avenir Book" panose="02000503020000020003" pitchFamily="2" charset="0"/>
              </a:rPr>
              <a:t>ME</a:t>
            </a:r>
            <a:endParaRPr lang="en-US" sz="95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331A66-E89B-2F95-5661-A1B9763C78BB}"/>
              </a:ext>
            </a:extLst>
          </p:cNvPr>
          <p:cNvSpPr txBox="1"/>
          <p:nvPr/>
        </p:nvSpPr>
        <p:spPr>
          <a:xfrm>
            <a:off x="3463699" y="2165112"/>
            <a:ext cx="8202133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500" dirty="0">
                <a:latin typeface="Avenir Book" panose="02000503020000020003" pitchFamily="2" charset="0"/>
              </a:rPr>
              <a:t>S</a:t>
            </a:r>
            <a:r>
              <a:rPr lang="en-US" sz="9500" dirty="0">
                <a:solidFill>
                  <a:srgbClr val="48A6C7"/>
                </a:solidFill>
                <a:latin typeface="Avenir Book" panose="02000503020000020003" pitchFamily="2" charset="0"/>
              </a:rPr>
              <a:t>A</a:t>
            </a:r>
            <a:r>
              <a:rPr lang="en-US" sz="9500" dirty="0">
                <a:latin typeface="Avenir Book" panose="02000503020000020003" pitchFamily="2" charset="0"/>
              </a:rPr>
              <a:t>VE MONEY</a:t>
            </a:r>
            <a:endParaRPr lang="en-US" sz="95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625070-01B8-8AD5-8645-AA2F88B1101C}"/>
              </a:ext>
            </a:extLst>
          </p:cNvPr>
          <p:cNvSpPr txBox="1"/>
          <p:nvPr/>
        </p:nvSpPr>
        <p:spPr>
          <a:xfrm>
            <a:off x="3463699" y="4179965"/>
            <a:ext cx="7849486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500" dirty="0">
                <a:latin typeface="Avenir Book" panose="02000503020000020003" pitchFamily="2" charset="0"/>
              </a:rPr>
              <a:t>S</a:t>
            </a:r>
            <a:r>
              <a:rPr lang="en-US" sz="9500" dirty="0">
                <a:solidFill>
                  <a:srgbClr val="48A6C7"/>
                </a:solidFill>
                <a:latin typeface="Avenir Book" panose="02000503020000020003" pitchFamily="2" charset="0"/>
              </a:rPr>
              <a:t>A</a:t>
            </a:r>
            <a:r>
              <a:rPr lang="en-US" sz="9500" dirty="0">
                <a:latin typeface="Avenir Book" panose="02000503020000020003" pitchFamily="2" charset="0"/>
              </a:rPr>
              <a:t>VE L</a:t>
            </a:r>
            <a:r>
              <a:rPr lang="en-US" sz="9500" dirty="0">
                <a:solidFill>
                  <a:srgbClr val="48A6C7"/>
                </a:solidFill>
                <a:latin typeface="Avenir Book" panose="02000503020000020003" pitchFamily="2" charset="0"/>
              </a:rPr>
              <a:t>I</a:t>
            </a:r>
            <a:r>
              <a:rPr lang="en-US" sz="9500" dirty="0">
                <a:latin typeface="Avenir Book" panose="02000503020000020003" pitchFamily="2" charset="0"/>
              </a:rPr>
              <a:t>VES</a:t>
            </a:r>
            <a:endParaRPr lang="en-US" sz="95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15E2F2-40A8-561C-2F71-8647C3C70848}"/>
              </a:ext>
            </a:extLst>
          </p:cNvPr>
          <p:cNvSpPr txBox="1"/>
          <p:nvPr/>
        </p:nvSpPr>
        <p:spPr>
          <a:xfrm>
            <a:off x="3463699" y="6544478"/>
            <a:ext cx="609777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>
                <a:latin typeface="Avenir Book" panose="02000503020000020003" pitchFamily="2" charset="0"/>
              </a:rPr>
              <a:t>Recall Wire® Confidential – Do not copy, distribute or use without Recall Wire written permission (2025)</a:t>
            </a:r>
          </a:p>
        </p:txBody>
      </p:sp>
    </p:spTree>
    <p:extLst>
      <p:ext uri="{BB962C8B-B14F-4D97-AF65-F5344CB8AC3E}">
        <p14:creationId xmlns:p14="http://schemas.microsoft.com/office/powerpoint/2010/main" val="792889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4221</TotalTime>
  <Words>601</Words>
  <Application>Microsoft Macintosh PowerPoint</Application>
  <PresentationFormat>Widescreen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Avenir 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Paradise</dc:creator>
  <cp:lastModifiedBy>Christopher Paradise</cp:lastModifiedBy>
  <cp:revision>5</cp:revision>
  <dcterms:created xsi:type="dcterms:W3CDTF">2025-08-02T17:10:28Z</dcterms:created>
  <dcterms:modified xsi:type="dcterms:W3CDTF">2025-08-06T23:34:39Z</dcterms:modified>
</cp:coreProperties>
</file>